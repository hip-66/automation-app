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600" b="1" i="0">
                <a:solidFill>
                  <a:srgbClr val="FFFFFF"/>
                </a:solidFill>
                <a:latin typeface="Arial"/>
              </a:rPr>
              <a:t>PS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1" i="0">
                <a:solidFill>
                  <a:srgbClr val="F27A1D"/>
                </a:solidFill>
                <a:latin typeface="Arial"/>
              </a:rPr>
              <a:t>למה זה הכרחי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ADBDD0"/>
                </a:solidFill>
                <a:latin typeface="Arial"/>
              </a:rPr>
              <a:t>מהעבודה הידנית לניהול מרכזי, מהיר ובטוח — התיק העסקי לכלי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ADBDD0"/>
                </a:solidFill>
                <a:latin typeface="Arial"/>
              </a:rPr>
              <a:t>כלי אימות תשתיות פנימי  •  HIPER Global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494008" y="457200"/>
            <a:ext cx="146304" cy="100584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F27A1D"/>
                </a:solidFill>
                <a:latin typeface="Arial"/>
              </a:rPr>
              <a:t>הבעיה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835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 i="0">
                <a:solidFill>
                  <a:srgbClr val="FFFFFF"/>
                </a:solidFill>
                <a:latin typeface="Arial"/>
              </a:rPr>
              <a:t>העבודה הידנית כיום — מה זה באמת עולה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8"/>
              </a:spcAft>
            </a:pPr>
            <a:r>
              <a:rPr sz="1600" b="1">
                <a:solidFill>
                  <a:srgbClr val="F27A1D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התחברות ידנית לכל שרת בנפרד — iDRAC / ESXi / Red Hat — שרת-שרת, בלי יוצא מן הכלל.</a:t>
            </a:r>
          </a:p>
          <a:p>
            <a:pPr algn="r" rtl="1">
              <a:spcAft>
                <a:spcPts val="1008"/>
              </a:spcAft>
            </a:pPr>
            <a:r>
              <a:rPr sz="1600" b="1">
                <a:solidFill>
                  <a:srgbClr val="F27A1D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צילומי מסך ותיעוד ידניים: פתיחת Word, הדבקה, כתיבת כותרת מתאימה — וחזרה על זה שוב ושוב, לכל שרת ולכל בדיקה.</a:t>
            </a:r>
          </a:p>
          <a:p>
            <a:pPr algn="r" rtl="1">
              <a:spcAft>
                <a:spcPts val="1008"/>
              </a:spcAft>
            </a:pPr>
            <a:r>
              <a:rPr sz="1600" b="1">
                <a:solidFill>
                  <a:srgbClr val="F27A1D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טעויות אנוש בלתי נמנעות: צילום שנשכח, צילום שגוי, כתובת IP שהוקלדה לא נכון.</a:t>
            </a:r>
          </a:p>
          <a:p>
            <a:pPr algn="r" rtl="1">
              <a:spcAft>
                <a:spcPts val="1008"/>
              </a:spcAft>
            </a:pPr>
            <a:r>
              <a:rPr sz="1600" b="1">
                <a:solidFill>
                  <a:srgbClr val="F27A1D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תלות מלאה בזיכרון ובניסיון של איש הצוות שמריץ — אין תקן אחיד ואין רישום מרכזי של מה נעשה, מתי ועל ידי מי.</a:t>
            </a:r>
          </a:p>
          <a:p>
            <a:pPr algn="r" rtl="1">
              <a:spcAft>
                <a:spcPts val="1008"/>
              </a:spcAft>
            </a:pPr>
            <a:r>
              <a:rPr sz="1600" b="1">
                <a:solidFill>
                  <a:srgbClr val="F27A1D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פעולות הרסניות (כיבוי שרתים, בניית RAID) שנעשות ידנית שרת-שרת — בלי בדיקת מוכנות ובלי אישור כפול.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000" b="0" i="0">
                <a:solidFill>
                  <a:srgbClr val="ADBDD0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6446520"/>
            <a:ext cx="2770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 i="0">
                <a:solidFill>
                  <a:srgbClr val="ADBDD0"/>
                </a:solidFill>
                <a:latin typeface="Arial"/>
              </a:rPr>
              <a:t>PS Automation  •  HIPER Global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494008" y="457200"/>
            <a:ext cx="146304" cy="100584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F27A1D"/>
                </a:solidFill>
                <a:latin typeface="Arial"/>
              </a:rPr>
              <a:t>המחיר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835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 i="0">
                <a:solidFill>
                  <a:srgbClr val="FFFFFF"/>
                </a:solidFill>
                <a:latin typeface="Arial"/>
              </a:rPr>
              <a:t>כמה זמן זה עולה בפועל — לכל שרת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2542032" cy="54864"/>
          </a:xfrm>
          <a:prstGeom prst="roundRect">
            <a:avLst/>
          </a:prstGeom>
          <a:solidFill>
            <a:srgbClr val="4A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2542032" cy="1417319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9525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r" rtl="1"/>
            <a:r>
              <a:rPr sz="1250" b="1">
                <a:solidFill>
                  <a:srgbClr val="ADBDD0"/>
                </a:solidFill>
                <a:latin typeface="Arial"/>
              </a:rPr>
              <a:t>iDRAC Report</a:t>
            </a:r>
          </a:p>
          <a:p>
            <a:pPr algn="r" rtl="1"/>
            <a:r>
              <a:rPr sz="3000" b="1">
                <a:solidFill>
                  <a:srgbClr val="4AA3FF"/>
                </a:solidFill>
                <a:latin typeface="Arial"/>
              </a:rPr>
              <a:t>6</a:t>
            </a:r>
          </a:p>
          <a:p>
            <a:pPr algn="r" rtl="1"/>
            <a:r>
              <a:rPr sz="1200">
                <a:solidFill>
                  <a:srgbClr val="ADBDD0"/>
                </a:solidFill>
                <a:latin typeface="Arial"/>
              </a:rPr>
              <a:t>דק' נחסך לשרת</a:t>
            </a:r>
          </a:p>
          <a:p>
            <a:pPr algn="r" rtl="1"/>
            <a:r>
              <a:rPr sz="1100">
                <a:solidFill>
                  <a:srgbClr val="7C8AA0"/>
                </a:solidFill>
                <a:latin typeface="Arial"/>
              </a:rPr>
              <a:t>אוטו' 2 · ידני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73552" y="1965960"/>
            <a:ext cx="2542032" cy="54864"/>
          </a:xfrm>
          <a:prstGeom prst="roundRect">
            <a:avLst/>
          </a:prstGeom>
          <a:solidFill>
            <a:srgbClr val="4A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73552" y="2057400"/>
            <a:ext cx="2542032" cy="1417319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9525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r" rtl="1"/>
            <a:r>
              <a:rPr sz="1250" b="1">
                <a:solidFill>
                  <a:srgbClr val="ADBDD0"/>
                </a:solidFill>
                <a:latin typeface="Arial"/>
              </a:rPr>
              <a:t>VMware ESXi Report</a:t>
            </a:r>
          </a:p>
          <a:p>
            <a:pPr algn="r" rtl="1"/>
            <a:r>
              <a:rPr sz="3000" b="1">
                <a:solidFill>
                  <a:srgbClr val="4AA3FF"/>
                </a:solidFill>
                <a:latin typeface="Arial"/>
              </a:rPr>
              <a:t>9</a:t>
            </a:r>
          </a:p>
          <a:p>
            <a:pPr algn="r" rtl="1"/>
            <a:r>
              <a:rPr sz="1200">
                <a:solidFill>
                  <a:srgbClr val="ADBDD0"/>
                </a:solidFill>
                <a:latin typeface="Arial"/>
              </a:rPr>
              <a:t>דק' נחסך לשרת</a:t>
            </a:r>
          </a:p>
          <a:p>
            <a:pPr algn="r" rtl="1"/>
            <a:r>
              <a:rPr sz="1100">
                <a:solidFill>
                  <a:srgbClr val="7C8AA0"/>
                </a:solidFill>
                <a:latin typeface="Arial"/>
              </a:rPr>
              <a:t>אוטו' 4 · ידני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98464" y="1965960"/>
            <a:ext cx="2542032" cy="54864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98464" y="2057400"/>
            <a:ext cx="2542032" cy="1417319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9525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r" rtl="1"/>
            <a:r>
              <a:rPr sz="1250" b="1">
                <a:solidFill>
                  <a:srgbClr val="ADBDD0"/>
                </a:solidFill>
                <a:latin typeface="Arial"/>
              </a:rPr>
              <a:t>Configure RAID1</a:t>
            </a:r>
          </a:p>
          <a:p>
            <a:pPr algn="r" rtl="1"/>
            <a:r>
              <a:rPr sz="3000" b="1">
                <a:solidFill>
                  <a:srgbClr val="F27A1D"/>
                </a:solidFill>
                <a:latin typeface="Arial"/>
              </a:rPr>
              <a:t>10</a:t>
            </a:r>
          </a:p>
          <a:p>
            <a:pPr algn="r" rtl="1"/>
            <a:r>
              <a:rPr sz="1200">
                <a:solidFill>
                  <a:srgbClr val="ADBDD0"/>
                </a:solidFill>
                <a:latin typeface="Arial"/>
              </a:rPr>
              <a:t>דק' נחסך לשרת</a:t>
            </a:r>
          </a:p>
          <a:p>
            <a:pPr algn="r" rtl="1"/>
            <a:r>
              <a:rPr sz="1100">
                <a:solidFill>
                  <a:srgbClr val="7C8AA0"/>
                </a:solidFill>
                <a:latin typeface="Arial"/>
              </a:rPr>
              <a:t>אוטו' 10 · ידני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23376" y="1965960"/>
            <a:ext cx="2542032" cy="54864"/>
          </a:xfrm>
          <a:prstGeom prst="roundRect">
            <a:avLst/>
          </a:prstGeom>
          <a:solidFill>
            <a:srgbClr val="3FC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23376" y="2057400"/>
            <a:ext cx="2542032" cy="1417319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9525">
            <a:solidFill>
              <a:srgbClr val="2433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r" rtl="1"/>
            <a:r>
              <a:rPr sz="1250" b="1">
                <a:solidFill>
                  <a:srgbClr val="ADBDD0"/>
                </a:solidFill>
                <a:latin typeface="Arial"/>
              </a:rPr>
              <a:t>MDE/ATP Validation</a:t>
            </a:r>
          </a:p>
          <a:p>
            <a:pPr algn="r" rtl="1"/>
            <a:r>
              <a:rPr sz="3000" b="1">
                <a:solidFill>
                  <a:srgbClr val="3FC380"/>
                </a:solidFill>
                <a:latin typeface="Arial"/>
              </a:rPr>
              <a:t>9</a:t>
            </a:r>
          </a:p>
          <a:p>
            <a:pPr algn="r" rtl="1"/>
            <a:r>
              <a:rPr sz="1200">
                <a:solidFill>
                  <a:srgbClr val="ADBDD0"/>
                </a:solidFill>
                <a:latin typeface="Arial"/>
              </a:rPr>
              <a:t>דק' נחסך לשרת</a:t>
            </a:r>
          </a:p>
          <a:p>
            <a:pPr algn="r" rtl="1"/>
            <a:r>
              <a:rPr sz="1100">
                <a:solidFill>
                  <a:srgbClr val="7C8AA0"/>
                </a:solidFill>
                <a:latin typeface="Arial"/>
              </a:rPr>
              <a:t>אוטו' 3 · ידני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i="0">
                <a:solidFill>
                  <a:srgbClr val="FF9F45"/>
                </a:solidFill>
                <a:latin typeface="Arial"/>
              </a:rPr>
              <a:t>לדוגמה: בניית RAID1 על 10 שרתים = כ-200 דקות עבודה ידנית, מול כ-20–30 דקות בפועל (במקביל).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34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50" b="0" i="0">
                <a:solidFill>
                  <a:srgbClr val="ADBDD0"/>
                </a:solidFill>
                <a:latin typeface="Arial"/>
              </a:rPr>
              <a:t>המספרים הם הערכה שמרנית (ידני פחות אוטומטי, לשרת בודד) המבוססת על ניתוח כל אוטומציה בפועל — לא כוללת את הרווח הנוסף מהרצה מקבילה על עשרות שרתים בבת אחת.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000" b="0" i="0">
                <a:solidFill>
                  <a:srgbClr val="ADBDD0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6446520"/>
            <a:ext cx="2770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 i="0">
                <a:solidFill>
                  <a:srgbClr val="ADBDD0"/>
                </a:solidFill>
                <a:latin typeface="Arial"/>
              </a:rPr>
              <a:t>PS Automation  •  HIPER Global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494008" y="457200"/>
            <a:ext cx="146304" cy="100584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F27A1D"/>
                </a:solidFill>
                <a:latin typeface="Arial"/>
              </a:rPr>
              <a:t>הסיכון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835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 i="0">
                <a:solidFill>
                  <a:srgbClr val="FFFFFF"/>
                </a:solidFill>
                <a:latin typeface="Arial"/>
              </a:rPr>
              <a:t>מה עוד עומד על הכף, מעבר לזמן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8"/>
              </a:spcAft>
            </a:pPr>
            <a:r>
              <a:rPr sz="1600" b="1">
                <a:solidFill>
                  <a:srgbClr val="F85149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אחידות: כל שרת מטופל באותה הבדיקה, באותו הסדר, בכל פעם — בלי תלות במי שמריץ.</a:t>
            </a:r>
          </a:p>
          <a:p>
            <a:pPr algn="r" rtl="1">
              <a:spcAft>
                <a:spcPts val="1008"/>
              </a:spcAft>
            </a:pPr>
            <a:r>
              <a:rPr sz="1600" b="1">
                <a:solidFill>
                  <a:srgbClr val="F85149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מניעת טעויות אנוש: אין יותר צילום מסך שנשכח או כתובת שהוקלדה לא נכון.</a:t>
            </a:r>
          </a:p>
          <a:p>
            <a:pPr algn="r" rtl="1">
              <a:spcAft>
                <a:spcPts val="1008"/>
              </a:spcAft>
            </a:pPr>
            <a:r>
              <a:rPr sz="1600" b="1">
                <a:solidFill>
                  <a:srgbClr val="F85149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תיעוד מלא לכל הרצה (Audit): מי הריץ, מתי, על אילו שרתים, ומה התוצאה — לוג מלא ודוח פר-שרת.</a:t>
            </a:r>
          </a:p>
          <a:p>
            <a:pPr algn="r" rtl="1">
              <a:spcAft>
                <a:spcPts val="1008"/>
              </a:spcAft>
            </a:pPr>
            <a:r>
              <a:rPr sz="1600" b="1">
                <a:solidFill>
                  <a:srgbClr val="F85149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בדיקת מוכנות (Pre-flight) ואישור כפול לפני כל פעולה הרסנית — לא ניתן להריץ RAID / כיבוי בטעות.</a:t>
            </a:r>
          </a:p>
          <a:p>
            <a:pPr algn="r" rtl="1">
              <a:spcAft>
                <a:spcPts val="1008"/>
              </a:spcAft>
            </a:pPr>
            <a:r>
              <a:rPr sz="1600" b="1">
                <a:solidFill>
                  <a:srgbClr val="F85149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המשכיות תפעולית: הידע לא נעול בראש של איש צוות אחד — הוא מוטמע באוטומציה עצמה.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000" b="0" i="0">
                <a:solidFill>
                  <a:srgbClr val="ADBDD0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6446520"/>
            <a:ext cx="2770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 i="0">
                <a:solidFill>
                  <a:srgbClr val="ADBDD0"/>
                </a:solidFill>
                <a:latin typeface="Arial"/>
              </a:rPr>
              <a:t>PS Automation  •  HIPER Global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494008" y="457200"/>
            <a:ext cx="146304" cy="100584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F27A1D"/>
                </a:solidFill>
                <a:latin typeface="Arial"/>
              </a:rPr>
              <a:t>הפתרון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835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 i="0">
                <a:solidFill>
                  <a:srgbClr val="FFFFFF"/>
                </a:solidFill>
                <a:latin typeface="Arial"/>
              </a:rPr>
              <a:t>PS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8"/>
              </a:spcAft>
            </a:pPr>
            <a:r>
              <a:rPr sz="1600" b="1">
                <a:solidFill>
                  <a:srgbClr val="3FC380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אפליקציית Web פנימית אחת שמאחדת 17 אוטומציות תחת ממשק ניהול יחיד.</a:t>
            </a:r>
          </a:p>
          <a:p>
            <a:pPr algn="r" rtl="1">
              <a:spcAft>
                <a:spcPts val="1008"/>
              </a:spcAft>
            </a:pPr>
            <a:r>
              <a:rPr sz="1600" b="1">
                <a:solidFill>
                  <a:srgbClr val="3FC380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אשף מודרך: בחירת אוטומציה, הגדרת שרתים, בדיקת מוכנות, ואישור והרצה.</a:t>
            </a:r>
          </a:p>
          <a:p>
            <a:pPr algn="r" rtl="1">
              <a:spcAft>
                <a:spcPts val="1008"/>
              </a:spcAft>
            </a:pPr>
            <a:r>
              <a:rPr sz="1600" b="1">
                <a:solidFill>
                  <a:srgbClr val="3FC380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הרצה מקבילה על עשרות שרתים בבת אחת — במקום שרת-שרת.</a:t>
            </a:r>
          </a:p>
          <a:p>
            <a:pPr algn="r" rtl="1">
              <a:spcAft>
                <a:spcPts val="1008"/>
              </a:spcAft>
            </a:pPr>
            <a:r>
              <a:rPr sz="1600" b="1">
                <a:solidFill>
                  <a:srgbClr val="3FC380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מעקב חי בזמן אמת: קונסולה, סטטוס פר-שרת, וחלונית מעקב צפה בכל מסך.</a:t>
            </a:r>
          </a:p>
          <a:p>
            <a:pPr algn="r" rtl="1">
              <a:spcAft>
                <a:spcPts val="1008"/>
              </a:spcAft>
            </a:pPr>
            <a:r>
              <a:rPr sz="1600" b="1">
                <a:solidFill>
                  <a:srgbClr val="3FC380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דוחות והיסטוריה מלאה נשמרים אוטומטית לכל הרצה, ללא מאמץ נוסף.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000" b="0" i="0">
                <a:solidFill>
                  <a:srgbClr val="ADBDD0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6446520"/>
            <a:ext cx="2770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 i="0">
                <a:solidFill>
                  <a:srgbClr val="ADBDD0"/>
                </a:solidFill>
                <a:latin typeface="Arial"/>
              </a:rPr>
              <a:t>PS Automation  •  HIPER Global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494008" y="457200"/>
            <a:ext cx="146304" cy="100584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F27A1D"/>
                </a:solidFill>
                <a:latin typeface="Arial"/>
              </a:rPr>
              <a:t>ממשק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835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 i="0">
                <a:solidFill>
                  <a:srgbClr val="FFFFFF"/>
                </a:solidFill>
                <a:latin typeface="Arial"/>
              </a:rPr>
              <a:t>התחברות מאובטחת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7406"/>
            <a:ext cx="5852159" cy="3511867"/>
          </a:xfrm>
          <a:prstGeom prst="roundRect">
            <a:avLst>
              <a:gd name="adj" fmla="val 4000"/>
            </a:avLst>
          </a:prstGeom>
          <a:solidFill>
            <a:srgbClr val="162238"/>
          </a:solidFill>
          <a:ln w="15875">
            <a:solidFill>
              <a:srgbClr val="F27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es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53126"/>
            <a:ext cx="5760720" cy="34204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0350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50" b="0" i="0">
                <a:solidFill>
                  <a:srgbClr val="ADBDD0"/>
                </a:solidFill>
                <a:latin typeface="Arial"/>
              </a:rPr>
              <a:t>מסך ההתחברות האמיתי של האפליקציה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965960"/>
            <a:ext cx="5166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84"/>
              </a:spcAft>
            </a:pPr>
            <a:r>
              <a:rPr sz="1500" b="1">
                <a:solidFill>
                  <a:srgbClr val="4AA3FF"/>
                </a:solidFill>
                <a:latin typeface="Arial"/>
              </a:rPr>
              <a:t>●  </a:t>
            </a:r>
            <a:r>
              <a:rPr sz="1500">
                <a:solidFill>
                  <a:srgbClr val="FFFFFF"/>
                </a:solidFill>
                <a:latin typeface="Arial"/>
              </a:rPr>
              <a:t>עיצוב Liquid Glass מותאם אישית — לא תבנית גנרית.</a:t>
            </a:r>
          </a:p>
          <a:p>
            <a:pPr algn="r" rtl="1">
              <a:spcAft>
                <a:spcPts val="1584"/>
              </a:spcAft>
            </a:pPr>
            <a:r>
              <a:rPr sz="1500" b="1">
                <a:solidFill>
                  <a:srgbClr val="4AA3FF"/>
                </a:solidFill>
                <a:latin typeface="Arial"/>
              </a:rPr>
              <a:t>●  </a:t>
            </a:r>
            <a:r>
              <a:rPr sz="1500">
                <a:solidFill>
                  <a:srgbClr val="FFFFFF"/>
                </a:solidFill>
                <a:latin typeface="Arial"/>
              </a:rPr>
              <a:t>דיאגרמת זרימה חיה שמראה את תהליך העבודה מאחורי הקלעים.</a:t>
            </a:r>
          </a:p>
          <a:p>
            <a:pPr algn="r" rtl="1">
              <a:spcAft>
                <a:spcPts val="1584"/>
              </a:spcAft>
            </a:pPr>
            <a:r>
              <a:rPr sz="1500" b="1">
                <a:solidFill>
                  <a:srgbClr val="4AA3FF"/>
                </a:solidFill>
                <a:latin typeface="Arial"/>
              </a:rPr>
              <a:t>●  </a:t>
            </a:r>
            <a:r>
              <a:rPr sz="1500">
                <a:solidFill>
                  <a:srgbClr val="FFFFFF"/>
                </a:solidFill>
                <a:latin typeface="Arial"/>
              </a:rPr>
              <a:t>חסימה אוטומטית אחרי ניסיונות כושלים, וניתוק בזמן חוסר פעילות.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000" b="0" i="0">
                <a:solidFill>
                  <a:srgbClr val="ADBDD0"/>
                </a:solidFill>
                <a:latin typeface="Ari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6446520"/>
            <a:ext cx="2770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 i="0">
                <a:solidFill>
                  <a:srgbClr val="ADBDD0"/>
                </a:solidFill>
                <a:latin typeface="Arial"/>
              </a:rPr>
              <a:t>PS Automation  •  HIPER Global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494008" y="457200"/>
            <a:ext cx="146304" cy="100584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F27A1D"/>
                </a:solidFill>
                <a:latin typeface="Arial"/>
              </a:rPr>
              <a:t>לוח בקרה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835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 i="0">
                <a:solidFill>
                  <a:srgbClr val="FFFFFF"/>
                </a:solidFill>
                <a:latin typeface="Arial"/>
              </a:rPr>
              <a:t>כל המידע במקום אחד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2133" y="1737360"/>
            <a:ext cx="4962292" cy="4251959"/>
          </a:xfrm>
          <a:prstGeom prst="roundRect">
            <a:avLst>
              <a:gd name="adj" fmla="val 4000"/>
            </a:avLst>
          </a:prstGeom>
          <a:solidFill>
            <a:srgbClr val="162238"/>
          </a:solidFill>
          <a:ln w="15875">
            <a:solidFill>
              <a:srgbClr val="F27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es_dashboard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853" y="1783080"/>
            <a:ext cx="4870852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0350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50" b="0" i="0">
                <a:solidFill>
                  <a:srgbClr val="ADBDD0"/>
                </a:solidFill>
                <a:latin typeface="Arial"/>
              </a:rPr>
              <a:t>לוח הבקרה האמיתי של האפליקציה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965960"/>
            <a:ext cx="5166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84"/>
              </a:spcAft>
            </a:pPr>
            <a:r>
              <a:rPr sz="1500" b="1">
                <a:solidFill>
                  <a:srgbClr val="3FC380"/>
                </a:solidFill>
                <a:latin typeface="Arial"/>
              </a:rPr>
              <a:t>●  </a:t>
            </a:r>
            <a:r>
              <a:rPr sz="1500">
                <a:solidFill>
                  <a:srgbClr val="FFFFFF"/>
                </a:solidFill>
                <a:latin typeface="Arial"/>
              </a:rPr>
              <a:t>זמן שנחסך — מספר מצטבר שלא מתאפס, בפירוק קריא לימים/שעות/דקות.</a:t>
            </a:r>
          </a:p>
          <a:p>
            <a:pPr algn="r" rtl="1">
              <a:spcAft>
                <a:spcPts val="1584"/>
              </a:spcAft>
            </a:pPr>
            <a:r>
              <a:rPr sz="1500" b="1">
                <a:solidFill>
                  <a:srgbClr val="3FC380"/>
                </a:solidFill>
                <a:latin typeface="Arial"/>
              </a:rPr>
              <a:t>●  </a:t>
            </a:r>
            <a:r>
              <a:rPr sz="1500">
                <a:solidFill>
                  <a:srgbClr val="FFFFFF"/>
                </a:solidFill>
                <a:latin typeface="Arial"/>
              </a:rPr>
              <a:t>אחוז הצלחה, הרצות לפי קטגוריה ולפי רמת סיכון — בזמן אמת.</a:t>
            </a:r>
          </a:p>
          <a:p>
            <a:pPr algn="r" rtl="1">
              <a:spcAft>
                <a:spcPts val="1584"/>
              </a:spcAft>
            </a:pPr>
            <a:r>
              <a:rPr sz="1500" b="1">
                <a:solidFill>
                  <a:srgbClr val="3FC380"/>
                </a:solidFill>
                <a:latin typeface="Arial"/>
              </a:rPr>
              <a:t>●  </a:t>
            </a:r>
            <a:r>
              <a:rPr sz="1500">
                <a:solidFill>
                  <a:srgbClr val="FFFFFF"/>
                </a:solidFill>
                <a:latin typeface="Arial"/>
              </a:rPr>
              <a:t>טבלת הרצות אחרונות עם קישור ישיר ללוגים ולדוחות.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000" b="0" i="0">
                <a:solidFill>
                  <a:srgbClr val="ADBDD0"/>
                </a:solidFill>
                <a:latin typeface="Arial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6446520"/>
            <a:ext cx="2770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 i="0">
                <a:solidFill>
                  <a:srgbClr val="ADBDD0"/>
                </a:solidFill>
                <a:latin typeface="Arial"/>
              </a:rPr>
              <a:t>PS Automation  •  HIPER Global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494008" y="457200"/>
            <a:ext cx="146304" cy="100584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F27A1D"/>
                </a:solidFill>
                <a:latin typeface="Arial"/>
              </a:rPr>
              <a:t>מעקב חי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835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 i="0">
                <a:solidFill>
                  <a:srgbClr val="FFFFFF"/>
                </a:solidFill>
                <a:latin typeface="Arial"/>
              </a:rPr>
              <a:t>כמו Jenkins — בזמן אמת, מכל מסך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7395"/>
            <a:ext cx="5852159" cy="3691889"/>
          </a:xfrm>
          <a:prstGeom prst="roundRect">
            <a:avLst>
              <a:gd name="adj" fmla="val 4000"/>
            </a:avLst>
          </a:prstGeom>
          <a:solidFill>
            <a:srgbClr val="162238"/>
          </a:solidFill>
          <a:ln w="15875">
            <a:solidFill>
              <a:srgbClr val="F27A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es_jobt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63115"/>
            <a:ext cx="5760720" cy="36004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0350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50" b="0" i="0">
                <a:solidFill>
                  <a:srgbClr val="ADBDD0"/>
                </a:solidFill>
                <a:latin typeface="Arial"/>
              </a:rPr>
              <a:t>חלונית ההרצה החיה של האפליקציה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965960"/>
            <a:ext cx="5166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584"/>
              </a:spcAft>
            </a:pPr>
            <a:r>
              <a:rPr sz="1500" b="1">
                <a:solidFill>
                  <a:srgbClr val="F27A1D"/>
                </a:solidFill>
                <a:latin typeface="Arial"/>
              </a:rPr>
              <a:t>●  </a:t>
            </a:r>
            <a:r>
              <a:rPr sz="1500">
                <a:solidFill>
                  <a:srgbClr val="FFFFFF"/>
                </a:solidFill>
                <a:latin typeface="Arial"/>
              </a:rPr>
              <a:t>רואים כל שרת בזמן אמת: מתחבר / רץ / הצליח / נכשל.</a:t>
            </a:r>
          </a:p>
          <a:p>
            <a:pPr algn="r" rtl="1">
              <a:spcAft>
                <a:spcPts val="1584"/>
              </a:spcAft>
            </a:pPr>
            <a:r>
              <a:rPr sz="1500" b="1">
                <a:solidFill>
                  <a:srgbClr val="F27A1D"/>
                </a:solidFill>
                <a:latin typeface="Arial"/>
              </a:rPr>
              <a:t>●  </a:t>
            </a:r>
            <a:r>
              <a:rPr sz="1500">
                <a:solidFill>
                  <a:srgbClr val="FFFFFF"/>
                </a:solidFill>
                <a:latin typeface="Arial"/>
              </a:rPr>
              <a:t>חלונית צפה שמלווה אותך לכל דף באפליקציה — לא רק במסך ההרצה.</a:t>
            </a:r>
          </a:p>
          <a:p>
            <a:pPr algn="r" rtl="1">
              <a:spcAft>
                <a:spcPts val="1584"/>
              </a:spcAft>
            </a:pPr>
            <a:r>
              <a:rPr sz="1500" b="1">
                <a:solidFill>
                  <a:srgbClr val="F27A1D"/>
                </a:solidFill>
                <a:latin typeface="Arial"/>
              </a:rPr>
              <a:t>●  </a:t>
            </a:r>
            <a:r>
              <a:rPr sz="1500">
                <a:solidFill>
                  <a:srgbClr val="FFFFFF"/>
                </a:solidFill>
                <a:latin typeface="Arial"/>
              </a:rPr>
              <a:t>לחיצה על הכותרת קופצת ישר למסך המלא; X עוצר או סוגר.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000" b="0" i="0">
                <a:solidFill>
                  <a:srgbClr val="ADBDD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6446520"/>
            <a:ext cx="2770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 i="0">
                <a:solidFill>
                  <a:srgbClr val="ADBDD0"/>
                </a:solidFill>
                <a:latin typeface="Arial"/>
              </a:rPr>
              <a:t>PS Automation  •  HIPER Global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494008" y="457200"/>
            <a:ext cx="146304" cy="100584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F27A1D"/>
                </a:solidFill>
                <a:latin typeface="Arial"/>
              </a:rPr>
              <a:t>השפעה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835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 i="0">
                <a:solidFill>
                  <a:srgbClr val="FFFFFF"/>
                </a:solidFill>
                <a:latin typeface="Arial"/>
              </a:rPr>
              <a:t>זמן שנחסך — מדיד, מצטבר, אמין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064240" cy="141732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5875">
            <a:solidFill>
              <a:srgbClr val="3FC3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r" rtl="1"/>
            <a:r>
              <a:rPr sz="1400" b="1">
                <a:solidFill>
                  <a:srgbClr val="ADBDD0"/>
                </a:solidFill>
                <a:latin typeface="Arial"/>
              </a:rPr>
              <a:t>זמן שנחסך (מצטבר — כל הזמנים)</a:t>
            </a:r>
          </a:p>
          <a:p>
            <a:pPr algn="r" rtl="1"/>
            <a:r>
              <a:rPr sz="3000" b="1">
                <a:solidFill>
                  <a:srgbClr val="3FC380"/>
                </a:solidFill>
                <a:latin typeface="Arial"/>
              </a:rPr>
              <a:t>לדוגמה: 3 ימים, שעה אחת ו-2 דקות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204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50" b="0" i="0">
                <a:solidFill>
                  <a:srgbClr val="FFFFFF"/>
                </a:solidFill>
                <a:latin typeface="Arial"/>
              </a:rPr>
              <a:t>נספר אוטומטית בכל הרצה, ונשאר לתמיד: (זמן ידני − זמן אוטומטי) × מספר השרתים שהצליחו. הרצה עם כשל, אפילו בשרת בודד, מוסיפה 0 — המספר משקף רק חיסכון אמיתי ומאומת.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348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ADBDD0"/>
                </a:solidFill>
                <a:latin typeface="Arial"/>
              </a:rPr>
              <a:t>המספר מוצג בדשבורד בפירוק קריא — דקות, שעות וימים — כדי שגם הנהלה שאינה טכנית תראה בבירור כמה זמן עבודה נחסך בפועל.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000" b="0" i="0">
                <a:solidFill>
                  <a:srgbClr val="ADBDD0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6446520"/>
            <a:ext cx="2770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 i="0">
                <a:solidFill>
                  <a:srgbClr val="ADBDD0"/>
                </a:solidFill>
                <a:latin typeface="Arial"/>
              </a:rPr>
              <a:t>PS Automation  •  HIPER Global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494008" y="457200"/>
            <a:ext cx="146304" cy="100584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F27A1D"/>
                </a:solidFill>
                <a:latin typeface="Arial"/>
              </a:rPr>
              <a:t>אבטחה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835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 i="0">
                <a:solidFill>
                  <a:srgbClr val="FFFFFF"/>
                </a:solidFill>
                <a:latin typeface="Arial"/>
              </a:rPr>
              <a:t>אמינות שאפשר לסמוך עליה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8"/>
              </a:spcAft>
            </a:pPr>
            <a:r>
              <a:rPr sz="1600" b="1">
                <a:solidFill>
                  <a:srgbClr val="4AA3FF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אין סיסמאות בטקסט גלוי בשום מקום בקוד — קרדנצ'יאלס מוצפנים ונטענים רק בזיכרון בזמן ריצה.</a:t>
            </a:r>
          </a:p>
          <a:p>
            <a:pPr algn="r" rtl="1">
              <a:spcAft>
                <a:spcPts val="1008"/>
              </a:spcAft>
            </a:pPr>
            <a:r>
              <a:rPr sz="1600" b="1">
                <a:solidFill>
                  <a:srgbClr val="4AA3FF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אישור כפול (Double-Confirm) חובה לפני כל פעולה הרסנית — כיבוי, RAID, ושינויי קונפיגורציה קריטיים.</a:t>
            </a:r>
          </a:p>
          <a:p>
            <a:pPr algn="r" rtl="1">
              <a:spcAft>
                <a:spcPts val="1008"/>
              </a:spcAft>
            </a:pPr>
            <a:r>
              <a:rPr sz="1600" b="1">
                <a:solidFill>
                  <a:srgbClr val="4AA3FF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בדיקת מוכנות (Pre-flight) לפני כל הרצה: זמינות שרתים, סביבת עבודה, וכלים נדרשים.</a:t>
            </a:r>
          </a:p>
          <a:p>
            <a:pPr algn="r" rtl="1">
              <a:spcAft>
                <a:spcPts val="1008"/>
              </a:spcAft>
            </a:pPr>
            <a:r>
              <a:rPr sz="1600" b="1">
                <a:solidFill>
                  <a:srgbClr val="4AA3FF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היסטוריה מלאה ובלתי הפיכה: כל הרצה, כל שרת, כל תוצאה — נשמרים ללא צורך במעקב ידני.</a:t>
            </a:r>
          </a:p>
          <a:p>
            <a:pPr algn="r" rtl="1">
              <a:spcAft>
                <a:spcPts val="1008"/>
              </a:spcAft>
            </a:pPr>
            <a:r>
              <a:rPr sz="1600" b="1">
                <a:solidFill>
                  <a:srgbClr val="4AA3FF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מנעולי Login עם חסימה אחרי ניסיונות שגויים, וניתוק אוטומטי בזמן חוסר פעילות.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000" b="0" i="0">
                <a:solidFill>
                  <a:srgbClr val="ADBDD0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6446520"/>
            <a:ext cx="2770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 i="0">
                <a:solidFill>
                  <a:srgbClr val="ADBDD0"/>
                </a:solidFill>
                <a:latin typeface="Arial"/>
              </a:rPr>
              <a:t>PS Automation  •  HIPER Global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494008" y="457200"/>
            <a:ext cx="146304" cy="1005840"/>
          </a:xfrm>
          <a:prstGeom prst="roundRect">
            <a:avLst/>
          </a:prstGeom>
          <a:solidFill>
            <a:srgbClr val="F27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F27A1D"/>
                </a:solidFill>
                <a:latin typeface="Arial"/>
              </a:rPr>
              <a:t>בהמשך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835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 i="0">
                <a:solidFill>
                  <a:srgbClr val="FFFFFF"/>
                </a:solidFill>
                <a:latin typeface="Arial"/>
              </a:rPr>
              <a:t>מה חדש, ולאן זה מתפתח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8"/>
              </a:spcAft>
            </a:pPr>
            <a:r>
              <a:rPr sz="1600" b="1">
                <a:solidFill>
                  <a:srgbClr val="F27A1D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Configure Raid — כלי אינטראקטיבי חדש: קורא את כל הדיסקים בשרת, ומראה מיקום וגודל בפועל.</a:t>
            </a:r>
          </a:p>
          <a:p>
            <a:pPr algn="r" rtl="1">
              <a:spcAft>
                <a:spcPts val="1008"/>
              </a:spcAft>
            </a:pPr>
            <a:r>
              <a:rPr sz="1600" b="1">
                <a:solidFill>
                  <a:srgbClr val="F27A1D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בחירה חופשית של RAID 0 / 1 / 5 / 6 / 10, ובניית כמה מערכים במקביל על אותו שרת — בלי אפשרות לבחור דיסק פעמיים.</a:t>
            </a:r>
          </a:p>
          <a:p>
            <a:pPr algn="r" rtl="1">
              <a:spcAft>
                <a:spcPts val="1008"/>
              </a:spcAft>
            </a:pPr>
            <a:r>
              <a:rPr sz="1600" b="1">
                <a:solidFill>
                  <a:srgbClr val="F27A1D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חלונית מעקב חיה (Job Tray) הזמינה מכל מסך באפליקציה — לא רק בתוך מסך ההרצה.</a:t>
            </a:r>
          </a:p>
          <a:p>
            <a:pPr algn="r" rtl="1">
              <a:spcAft>
                <a:spcPts val="1008"/>
              </a:spcAft>
            </a:pPr>
            <a:r>
              <a:rPr sz="1600" b="1">
                <a:solidFill>
                  <a:srgbClr val="F27A1D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מדד "זמן שנחסך" חדש בדשבורד, קבוע לתמיד (לא מתאפס בעדכוני גרסה).</a:t>
            </a:r>
          </a:p>
          <a:p>
            <a:pPr algn="r" rtl="1">
              <a:spcAft>
                <a:spcPts val="1008"/>
              </a:spcAft>
            </a:pPr>
            <a:r>
              <a:rPr sz="1600" b="1">
                <a:solidFill>
                  <a:srgbClr val="F27A1D"/>
                </a:solidFill>
                <a:latin typeface="Arial"/>
              </a:rPr>
              <a:t>●  </a:t>
            </a:r>
            <a:r>
              <a:rPr sz="1600">
                <a:solidFill>
                  <a:srgbClr val="FFFFFF"/>
                </a:solidFill>
                <a:latin typeface="Arial"/>
              </a:rPr>
              <a:t>בתכנון: הרחבת הכלי ללקוחות Nova ו-Applied, ולוח בקרה מתקדם בסגנון Grafana.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000" b="0" i="0">
                <a:solidFill>
                  <a:srgbClr val="ADBDD0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6446520"/>
            <a:ext cx="2770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 i="0">
                <a:solidFill>
                  <a:srgbClr val="ADBDD0"/>
                </a:solidFill>
                <a:latin typeface="Arial"/>
              </a:rPr>
              <a:t>PS Automation  •  HIPER Global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 i="0">
                <a:solidFill>
                  <a:srgbClr val="FFFFFF"/>
                </a:solidFill>
                <a:latin typeface="Arial"/>
              </a:rPr>
              <a:t>תודה על ההקשבה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27A1D"/>
                </a:solidFill>
                <a:latin typeface="Arial"/>
              </a:rPr>
              <a:t>זמינים להדגמה חיה של הכלי בכל שלב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ADBDD0"/>
                </a:solidFill>
                <a:latin typeface="Arial"/>
              </a:rPr>
              <a:t>PS Automation  •  HIPER Global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