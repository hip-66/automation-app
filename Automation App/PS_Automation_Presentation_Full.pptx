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27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PS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71800"/>
            <a:ext cx="1069848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lang="he-IL" sz="2800" b="1" dirty="0">
                <a:solidFill>
                  <a:srgbClr val="F27A1D"/>
                </a:solidFill>
                <a:latin typeface="Arial"/>
              </a:rPr>
              <a:t>ידני </a:t>
            </a:r>
            <a:r>
              <a:rPr lang="en-US" sz="2800" b="1" dirty="0">
                <a:solidFill>
                  <a:srgbClr val="F27A1D"/>
                </a:solidFill>
                <a:latin typeface="Arial"/>
              </a:rPr>
              <a:t>VS</a:t>
            </a:r>
            <a:r>
              <a:rPr lang="he-IL" sz="2800" b="1" dirty="0">
                <a:solidFill>
                  <a:srgbClr val="F27A1D"/>
                </a:solidFill>
                <a:latin typeface="Arial"/>
              </a:rPr>
              <a:t> אוטומציה</a:t>
            </a:r>
            <a:endParaRPr sz="2800" b="1" dirty="0">
              <a:solidFill>
                <a:srgbClr val="F27A1D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46607" y="3886200"/>
            <a:ext cx="106984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1800" b="0" dirty="0" err="1">
                <a:solidFill>
                  <a:srgbClr val="ADBDD0"/>
                </a:solidFill>
                <a:latin typeface="Arial"/>
              </a:rPr>
              <a:t>סקירה</a:t>
            </a:r>
            <a:r>
              <a:rPr sz="1800" b="0" dirty="0">
                <a:solidFill>
                  <a:srgbClr val="ADBDD0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ADBDD0"/>
                </a:solidFill>
                <a:latin typeface="Arial"/>
              </a:rPr>
              <a:t>לפי</a:t>
            </a:r>
            <a:r>
              <a:rPr sz="1800" b="0" dirty="0">
                <a:solidFill>
                  <a:srgbClr val="ADBDD0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ADBDD0"/>
                </a:solidFill>
                <a:latin typeface="Arial"/>
              </a:rPr>
              <a:t>קטגוריות</a:t>
            </a:r>
            <a:r>
              <a:rPr sz="1800" b="0" dirty="0">
                <a:solidFill>
                  <a:srgbClr val="ADBDD0"/>
                </a:solidFill>
                <a:latin typeface="Arial"/>
              </a:rPr>
              <a:t> — </a:t>
            </a:r>
            <a:r>
              <a:rPr sz="1800" b="0" dirty="0" err="1">
                <a:solidFill>
                  <a:srgbClr val="ADBDD0"/>
                </a:solidFill>
                <a:latin typeface="Arial"/>
              </a:rPr>
              <a:t>כולל</a:t>
            </a:r>
            <a:r>
              <a:rPr sz="1800" b="0" dirty="0">
                <a:solidFill>
                  <a:srgbClr val="ADBDD0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ADBDD0"/>
                </a:solidFill>
                <a:latin typeface="Arial"/>
              </a:rPr>
              <a:t>חיסכון</a:t>
            </a:r>
            <a:r>
              <a:rPr lang="he-IL" dirty="0">
                <a:solidFill>
                  <a:srgbClr val="ADBDD0"/>
                </a:solidFill>
                <a:latin typeface="Arial"/>
              </a:rPr>
              <a:t> בזמן.</a:t>
            </a:r>
            <a:endParaRPr sz="1800" b="0" dirty="0">
              <a:solidFill>
                <a:srgbClr val="ADBDD0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448056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ADBDD0"/>
                </a:solidFill>
                <a:latin typeface="Arial"/>
              </a:rPr>
              <a:t>כלי אימות תשתיות פנימי  •  HIPER Global  •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1494008" y="457200"/>
            <a:ext cx="146304" cy="1005840"/>
          </a:xfrm>
          <a:prstGeom prst="roundRect">
            <a:avLst/>
          </a:prstGeom>
          <a:solidFill>
            <a:srgbClr val="F27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10835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27A1D"/>
                </a:solidFill>
                <a:latin typeface="Arial"/>
              </a:rPr>
              <a:t>סקירה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83564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lang="he-IL" sz="2800" b="1" dirty="0">
                <a:solidFill>
                  <a:srgbClr val="FFFFFF"/>
                </a:solidFill>
                <a:latin typeface="Arial"/>
              </a:rPr>
              <a:t>יתרונות האפליקציה</a:t>
            </a:r>
            <a:endParaRPr sz="28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3580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400"/>
              </a:spcAft>
            </a:pPr>
            <a:r>
              <a:rPr sz="1800" dirty="0">
                <a:solidFill>
                  <a:srgbClr val="FFFFFF"/>
                </a:solidFill>
                <a:latin typeface="Arial"/>
              </a:rPr>
              <a:t>•  </a:t>
            </a:r>
            <a:r>
              <a:rPr lang="he-IL" sz="1800" dirty="0">
                <a:solidFill>
                  <a:srgbClr val="FFFFFF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FFFFFF"/>
                </a:solidFill>
                <a:latin typeface="Arial"/>
              </a:rPr>
              <a:t>אפליקציית</a:t>
            </a:r>
            <a:r>
              <a:rPr sz="1800" dirty="0">
                <a:solidFill>
                  <a:srgbClr val="FFFFFF"/>
                </a:solidFill>
                <a:latin typeface="Arial"/>
              </a:rPr>
              <a:t> Web </a:t>
            </a:r>
            <a:r>
              <a:rPr lang="he-IL" sz="1800" dirty="0">
                <a:solidFill>
                  <a:srgbClr val="FFFFFF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FFFFFF"/>
                </a:solidFill>
                <a:latin typeface="Arial"/>
              </a:rPr>
              <a:t>פנימית</a:t>
            </a:r>
            <a:r>
              <a:rPr sz="1800" dirty="0">
                <a:solidFill>
                  <a:srgbClr val="FFFFFF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FFFFFF"/>
                </a:solidFill>
                <a:latin typeface="Arial"/>
              </a:rPr>
              <a:t>אחת</a:t>
            </a:r>
            <a:r>
              <a:rPr sz="1800" dirty="0">
                <a:solidFill>
                  <a:srgbClr val="FFFFFF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FFFFFF"/>
                </a:solidFill>
                <a:latin typeface="Arial"/>
              </a:rPr>
              <a:t>שמאחדת</a:t>
            </a:r>
            <a:r>
              <a:rPr sz="1800" dirty="0">
                <a:solidFill>
                  <a:srgbClr val="FFFFFF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FFFFFF"/>
                </a:solidFill>
                <a:latin typeface="Arial"/>
              </a:rPr>
              <a:t>את</a:t>
            </a:r>
            <a:r>
              <a:rPr sz="1800" dirty="0">
                <a:solidFill>
                  <a:srgbClr val="FFFFFF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FFFFFF"/>
                </a:solidFill>
                <a:latin typeface="Arial"/>
              </a:rPr>
              <a:t>כל</a:t>
            </a:r>
            <a:r>
              <a:rPr sz="1800" dirty="0">
                <a:solidFill>
                  <a:srgbClr val="FFFFFF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FFFFFF"/>
                </a:solidFill>
                <a:latin typeface="Arial"/>
              </a:rPr>
              <a:t>האוטומציות</a:t>
            </a:r>
            <a:r>
              <a:rPr sz="1800" dirty="0">
                <a:solidFill>
                  <a:srgbClr val="FFFFFF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FFFFFF"/>
                </a:solidFill>
                <a:latin typeface="Arial"/>
              </a:rPr>
              <a:t>תחת</a:t>
            </a:r>
            <a:r>
              <a:rPr sz="1800" dirty="0">
                <a:solidFill>
                  <a:srgbClr val="FFFFFF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FFFFFF"/>
                </a:solidFill>
                <a:latin typeface="Arial"/>
              </a:rPr>
              <a:t>ממשק</a:t>
            </a:r>
            <a:r>
              <a:rPr sz="1800" dirty="0">
                <a:solidFill>
                  <a:srgbClr val="FFFFFF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FFFFFF"/>
                </a:solidFill>
                <a:latin typeface="Arial"/>
              </a:rPr>
              <a:t>ניהול</a:t>
            </a:r>
            <a:r>
              <a:rPr sz="1800" dirty="0">
                <a:solidFill>
                  <a:srgbClr val="FFFFFF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FFFFFF"/>
                </a:solidFill>
                <a:latin typeface="Arial"/>
              </a:rPr>
              <a:t>אחד</a:t>
            </a:r>
            <a:r>
              <a:rPr sz="1800" dirty="0">
                <a:solidFill>
                  <a:srgbClr val="FFFFFF"/>
                </a:solidFill>
                <a:latin typeface="Arial"/>
              </a:rPr>
              <a:t>.</a:t>
            </a:r>
          </a:p>
          <a:p>
            <a:pPr algn="r" rtl="1">
              <a:spcAft>
                <a:spcPts val="1400"/>
              </a:spcAft>
            </a:pPr>
            <a:r>
              <a:rPr sz="1800" dirty="0">
                <a:solidFill>
                  <a:srgbClr val="FFFFFF"/>
                </a:solidFill>
                <a:latin typeface="Arial"/>
              </a:rPr>
              <a:t>•  </a:t>
            </a:r>
            <a:r>
              <a:rPr lang="he-IL" sz="1800" dirty="0">
                <a:solidFill>
                  <a:srgbClr val="FFFFFF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FFFFFF"/>
                </a:solidFill>
                <a:latin typeface="Arial"/>
              </a:rPr>
              <a:t>אשף</a:t>
            </a:r>
            <a:r>
              <a:rPr sz="1800" dirty="0">
                <a:solidFill>
                  <a:srgbClr val="FFFFFF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FFFFFF"/>
                </a:solidFill>
                <a:latin typeface="Arial"/>
              </a:rPr>
              <a:t>מודרך</a:t>
            </a:r>
            <a:r>
              <a:rPr sz="1800" dirty="0">
                <a:solidFill>
                  <a:srgbClr val="FFFFFF"/>
                </a:solidFill>
                <a:latin typeface="Arial"/>
              </a:rPr>
              <a:t>: </a:t>
            </a:r>
            <a:r>
              <a:rPr sz="1800" dirty="0" err="1">
                <a:solidFill>
                  <a:srgbClr val="FFFFFF"/>
                </a:solidFill>
                <a:latin typeface="Arial"/>
              </a:rPr>
              <a:t>בחירת</a:t>
            </a:r>
            <a:r>
              <a:rPr sz="1800" dirty="0">
                <a:solidFill>
                  <a:srgbClr val="FFFFFF"/>
                </a:solidFill>
                <a:latin typeface="Arial"/>
              </a:rPr>
              <a:t> אוטומציה, </a:t>
            </a:r>
            <a:r>
              <a:rPr sz="1800" dirty="0" err="1">
                <a:solidFill>
                  <a:srgbClr val="FFFFFF"/>
                </a:solidFill>
                <a:latin typeface="Arial"/>
              </a:rPr>
              <a:t>הגדרת</a:t>
            </a:r>
            <a:r>
              <a:rPr sz="1800" dirty="0">
                <a:solidFill>
                  <a:srgbClr val="FFFFFF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FFFFFF"/>
                </a:solidFill>
                <a:latin typeface="Arial"/>
              </a:rPr>
              <a:t>שרתים</a:t>
            </a:r>
            <a:r>
              <a:rPr sz="1800" dirty="0">
                <a:solidFill>
                  <a:srgbClr val="FFFFFF"/>
                </a:solidFill>
                <a:latin typeface="Arial"/>
              </a:rPr>
              <a:t>, </a:t>
            </a:r>
            <a:r>
              <a:rPr sz="1800" dirty="0" err="1">
                <a:solidFill>
                  <a:srgbClr val="FFFFFF"/>
                </a:solidFill>
                <a:latin typeface="Arial"/>
              </a:rPr>
              <a:t>בדיקת</a:t>
            </a:r>
            <a:r>
              <a:rPr sz="1800" dirty="0">
                <a:solidFill>
                  <a:srgbClr val="FFFFFF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FFFFFF"/>
                </a:solidFill>
                <a:latin typeface="Arial"/>
              </a:rPr>
              <a:t>מוכנות</a:t>
            </a:r>
            <a:r>
              <a:rPr sz="1800" dirty="0">
                <a:solidFill>
                  <a:srgbClr val="FFFFFF"/>
                </a:solidFill>
                <a:latin typeface="Arial"/>
              </a:rPr>
              <a:t>, </a:t>
            </a:r>
            <a:r>
              <a:rPr sz="1800" dirty="0" err="1">
                <a:solidFill>
                  <a:srgbClr val="FFFFFF"/>
                </a:solidFill>
                <a:latin typeface="Arial"/>
              </a:rPr>
              <a:t>ואישור</a:t>
            </a:r>
            <a:r>
              <a:rPr sz="1800" dirty="0">
                <a:solidFill>
                  <a:srgbClr val="FFFFFF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FFFFFF"/>
                </a:solidFill>
                <a:latin typeface="Arial"/>
              </a:rPr>
              <a:t>והרצה</a:t>
            </a:r>
            <a:r>
              <a:rPr sz="1800" dirty="0">
                <a:solidFill>
                  <a:srgbClr val="FFFFFF"/>
                </a:solidFill>
                <a:latin typeface="Arial"/>
              </a:rPr>
              <a:t>.</a:t>
            </a:r>
          </a:p>
          <a:p>
            <a:pPr algn="r" rtl="1">
              <a:spcAft>
                <a:spcPts val="1400"/>
              </a:spcAft>
            </a:pPr>
            <a:r>
              <a:rPr sz="1800" dirty="0">
                <a:solidFill>
                  <a:srgbClr val="FFFFFF"/>
                </a:solidFill>
                <a:latin typeface="Arial"/>
              </a:rPr>
              <a:t>•  </a:t>
            </a:r>
            <a:r>
              <a:rPr lang="he-IL" sz="1800" dirty="0">
                <a:solidFill>
                  <a:srgbClr val="FFFFFF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FFFFFF"/>
                </a:solidFill>
                <a:latin typeface="Arial"/>
              </a:rPr>
              <a:t>פועלות</a:t>
            </a:r>
            <a:r>
              <a:rPr sz="1800" dirty="0">
                <a:solidFill>
                  <a:srgbClr val="FFFFFF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FFFFFF"/>
                </a:solidFill>
                <a:latin typeface="Arial"/>
              </a:rPr>
              <a:t>כיום</a:t>
            </a:r>
            <a:r>
              <a:rPr lang="he-IL" sz="1800" dirty="0">
                <a:solidFill>
                  <a:srgbClr val="FFFFFF"/>
                </a:solidFill>
                <a:latin typeface="Arial"/>
              </a:rPr>
              <a:t> כ-</a:t>
            </a:r>
            <a:r>
              <a:rPr sz="1800" dirty="0">
                <a:solidFill>
                  <a:srgbClr val="FFFFFF"/>
                </a:solidFill>
                <a:latin typeface="Arial"/>
              </a:rPr>
              <a:t> </a:t>
            </a:r>
            <a:r>
              <a:rPr lang="he-IL" sz="1800" dirty="0">
                <a:solidFill>
                  <a:srgbClr val="FFFFFF"/>
                </a:solidFill>
                <a:latin typeface="Arial"/>
              </a:rPr>
              <a:t>16</a:t>
            </a:r>
            <a:r>
              <a:rPr sz="1800" dirty="0">
                <a:solidFill>
                  <a:srgbClr val="FFFFFF"/>
                </a:solidFill>
                <a:latin typeface="Arial"/>
              </a:rPr>
              <a:t> אוטומציות </a:t>
            </a:r>
            <a:r>
              <a:rPr sz="1800" dirty="0" err="1">
                <a:solidFill>
                  <a:srgbClr val="FFFFFF"/>
                </a:solidFill>
                <a:latin typeface="Arial"/>
              </a:rPr>
              <a:t>ללקוח</a:t>
            </a:r>
            <a:r>
              <a:rPr sz="1800" dirty="0">
                <a:solidFill>
                  <a:srgbClr val="FFFFFF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FFFFFF"/>
                </a:solidFill>
                <a:latin typeface="Arial"/>
              </a:rPr>
              <a:t>Cognyte</a:t>
            </a:r>
            <a:r>
              <a:rPr sz="1800" dirty="0">
                <a:solidFill>
                  <a:srgbClr val="FFFFFF"/>
                </a:solidFill>
                <a:latin typeface="Arial"/>
              </a:rPr>
              <a:t> </a:t>
            </a:r>
            <a:r>
              <a:rPr lang="en-US" sz="1800" dirty="0">
                <a:solidFill>
                  <a:srgbClr val="FFFFFF"/>
                </a:solidFill>
                <a:latin typeface="Arial"/>
              </a:rPr>
              <a:t>—  </a:t>
            </a:r>
            <a:r>
              <a:rPr lang="he-IL" sz="1800" dirty="0">
                <a:solidFill>
                  <a:srgbClr val="FFFFFF"/>
                </a:solidFill>
                <a:latin typeface="Arial"/>
              </a:rPr>
              <a:t> ה</a:t>
            </a:r>
            <a:r>
              <a:rPr sz="1800" dirty="0" err="1">
                <a:solidFill>
                  <a:srgbClr val="FFFFFF"/>
                </a:solidFill>
                <a:latin typeface="Arial"/>
              </a:rPr>
              <a:t>מחולקות</a:t>
            </a:r>
            <a:r>
              <a:rPr sz="1800" dirty="0">
                <a:solidFill>
                  <a:srgbClr val="FFFFFF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FFFFFF"/>
                </a:solidFill>
                <a:latin typeface="Arial"/>
              </a:rPr>
              <a:t>לקטגוריות</a:t>
            </a:r>
            <a:r>
              <a:rPr lang="he-IL" dirty="0">
                <a:solidFill>
                  <a:srgbClr val="FFFFFF"/>
                </a:solidFill>
                <a:latin typeface="Arial"/>
              </a:rPr>
              <a:t>:</a:t>
            </a:r>
            <a:br>
              <a:rPr lang="en-US" dirty="0">
                <a:solidFill>
                  <a:srgbClr val="FFFFFF"/>
                </a:solidFill>
                <a:latin typeface="Arial"/>
              </a:rPr>
            </a:br>
            <a:r>
              <a:rPr lang="he-IL" dirty="0">
                <a:solidFill>
                  <a:srgbClr val="FFFFFF"/>
                </a:solidFill>
                <a:latin typeface="Arial"/>
              </a:rPr>
              <a:t>    </a:t>
            </a:r>
            <a:r>
              <a:rPr sz="1800" dirty="0" err="1">
                <a:solidFill>
                  <a:srgbClr val="FFFFFF"/>
                </a:solidFill>
                <a:latin typeface="Arial"/>
              </a:rPr>
              <a:t>דוחות</a:t>
            </a:r>
            <a:r>
              <a:rPr sz="1800" dirty="0">
                <a:solidFill>
                  <a:srgbClr val="FFFFFF"/>
                </a:solidFill>
                <a:latin typeface="Arial"/>
              </a:rPr>
              <a:t>, </a:t>
            </a:r>
            <a:r>
              <a:rPr sz="1800" dirty="0" err="1">
                <a:solidFill>
                  <a:srgbClr val="FFFFFF"/>
                </a:solidFill>
                <a:latin typeface="Arial"/>
              </a:rPr>
              <a:t>קונפיגורציה</a:t>
            </a:r>
            <a:r>
              <a:rPr sz="1800" dirty="0">
                <a:solidFill>
                  <a:srgbClr val="FFFFFF"/>
                </a:solidFill>
                <a:latin typeface="Arial"/>
              </a:rPr>
              <a:t>, </a:t>
            </a:r>
            <a:r>
              <a:rPr sz="1800" dirty="0" err="1">
                <a:solidFill>
                  <a:srgbClr val="FFFFFF"/>
                </a:solidFill>
                <a:latin typeface="Arial"/>
              </a:rPr>
              <a:t>כיבוי</a:t>
            </a:r>
            <a:r>
              <a:rPr sz="1800" dirty="0">
                <a:solidFill>
                  <a:srgbClr val="FFFFFF"/>
                </a:solidFill>
                <a:latin typeface="Arial"/>
              </a:rPr>
              <a:t>, </a:t>
            </a:r>
            <a:r>
              <a:rPr sz="1800" dirty="0" err="1">
                <a:solidFill>
                  <a:srgbClr val="FFFFFF"/>
                </a:solidFill>
                <a:latin typeface="Arial"/>
              </a:rPr>
              <a:t>אחסון</a:t>
            </a:r>
            <a:r>
              <a:rPr sz="1800" dirty="0">
                <a:solidFill>
                  <a:srgbClr val="FFFFFF"/>
                </a:solidFill>
                <a:latin typeface="Arial"/>
              </a:rPr>
              <a:t>/RAID, </a:t>
            </a:r>
            <a:r>
              <a:rPr sz="1800" dirty="0" err="1">
                <a:solidFill>
                  <a:srgbClr val="FFFFFF"/>
                </a:solidFill>
                <a:latin typeface="Arial"/>
              </a:rPr>
              <a:t>ואימות</a:t>
            </a:r>
            <a:r>
              <a:rPr sz="1800" dirty="0">
                <a:solidFill>
                  <a:srgbClr val="FFFFFF"/>
                </a:solidFill>
                <a:latin typeface="Arial"/>
              </a:rPr>
              <a:t>.</a:t>
            </a:r>
          </a:p>
          <a:p>
            <a:pPr algn="r" rtl="1">
              <a:spcAft>
                <a:spcPts val="1400"/>
              </a:spcAft>
            </a:pPr>
            <a:r>
              <a:rPr sz="1800" dirty="0">
                <a:solidFill>
                  <a:srgbClr val="FFFFFF"/>
                </a:solidFill>
                <a:latin typeface="Arial"/>
              </a:rPr>
              <a:t>•  </a:t>
            </a:r>
            <a:r>
              <a:rPr lang="he-IL" sz="1800" dirty="0">
                <a:solidFill>
                  <a:srgbClr val="FFFFFF"/>
                </a:solidFill>
                <a:latin typeface="Arial"/>
              </a:rPr>
              <a:t> ב</a:t>
            </a:r>
            <a:r>
              <a:rPr sz="1800" dirty="0" err="1">
                <a:solidFill>
                  <a:srgbClr val="FFFFFF"/>
                </a:solidFill>
                <a:latin typeface="Arial"/>
              </a:rPr>
              <a:t>כל</a:t>
            </a:r>
            <a:r>
              <a:rPr sz="1800" dirty="0">
                <a:solidFill>
                  <a:srgbClr val="FFFFFF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FFFFFF"/>
                </a:solidFill>
                <a:latin typeface="Arial"/>
              </a:rPr>
              <a:t>הרצה</a:t>
            </a:r>
            <a:r>
              <a:rPr sz="1800" dirty="0">
                <a:solidFill>
                  <a:srgbClr val="FFFFFF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FFFFFF"/>
                </a:solidFill>
                <a:latin typeface="Arial"/>
              </a:rPr>
              <a:t>מתועד</a:t>
            </a:r>
            <a:r>
              <a:rPr lang="he-IL" sz="1800" dirty="0">
                <a:solidFill>
                  <a:srgbClr val="FFFFFF"/>
                </a:solidFill>
                <a:latin typeface="Arial"/>
              </a:rPr>
              <a:t>ת</a:t>
            </a:r>
            <a:r>
              <a:rPr lang="he-IL" dirty="0">
                <a:solidFill>
                  <a:srgbClr val="FFFFFF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FFFFFF"/>
                </a:solidFill>
                <a:latin typeface="Arial"/>
              </a:rPr>
              <a:t>קונסולה</a:t>
            </a:r>
            <a:r>
              <a:rPr sz="1800" dirty="0">
                <a:solidFill>
                  <a:srgbClr val="FFFFFF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FFFFFF"/>
                </a:solidFill>
                <a:latin typeface="Arial"/>
              </a:rPr>
              <a:t>חיה</a:t>
            </a:r>
            <a:r>
              <a:rPr lang="he-IL" dirty="0">
                <a:solidFill>
                  <a:srgbClr val="FFFFFF"/>
                </a:solidFill>
                <a:latin typeface="Arial"/>
              </a:rPr>
              <a:t>, כגון: </a:t>
            </a:r>
            <a:r>
              <a:rPr sz="1800" dirty="0" err="1">
                <a:solidFill>
                  <a:srgbClr val="FFFFFF"/>
                </a:solidFill>
                <a:latin typeface="Arial"/>
              </a:rPr>
              <a:t>לוגים</a:t>
            </a:r>
            <a:r>
              <a:rPr sz="1800" dirty="0">
                <a:solidFill>
                  <a:srgbClr val="FFFFFF"/>
                </a:solidFill>
                <a:latin typeface="Arial"/>
              </a:rPr>
              <a:t>, </a:t>
            </a:r>
            <a:r>
              <a:rPr sz="1800" dirty="0" err="1">
                <a:solidFill>
                  <a:srgbClr val="FFFFFF"/>
                </a:solidFill>
                <a:latin typeface="Arial"/>
              </a:rPr>
              <a:t>ודוחות</a:t>
            </a:r>
            <a:r>
              <a:rPr sz="1800" dirty="0">
                <a:solidFill>
                  <a:srgbClr val="FFFFFF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FFFFFF"/>
                </a:solidFill>
                <a:latin typeface="Arial"/>
              </a:rPr>
              <a:t>פר-שרת</a:t>
            </a:r>
            <a:r>
              <a:rPr lang="he-IL" dirty="0">
                <a:solidFill>
                  <a:srgbClr val="FFFFFF"/>
                </a:solidFill>
                <a:latin typeface="Arial"/>
              </a:rPr>
              <a:t>.</a:t>
            </a:r>
          </a:p>
          <a:p>
            <a:pPr algn="r" rtl="1">
              <a:spcAft>
                <a:spcPts val="1400"/>
              </a:spcAft>
            </a:pPr>
            <a:r>
              <a:rPr lang="he-IL" dirty="0">
                <a:solidFill>
                  <a:srgbClr val="FFFFFF"/>
                </a:solidFill>
                <a:latin typeface="Arial"/>
              </a:rPr>
              <a:t>  </a:t>
            </a:r>
            <a:r>
              <a:rPr lang="en-US" dirty="0">
                <a:solidFill>
                  <a:srgbClr val="FFFFFF"/>
                </a:solidFill>
                <a:latin typeface="Arial"/>
              </a:rPr>
              <a:t>•</a:t>
            </a:r>
            <a:r>
              <a:rPr lang="he-IL" dirty="0">
                <a:solidFill>
                  <a:srgbClr val="FFFFFF"/>
                </a:solidFill>
                <a:latin typeface="Arial"/>
              </a:rPr>
              <a:t> היתרון המרכזי של האפליקציה הוא האפשרות להריץ כמה תהליכים אוטומטים במקביל, ובכך לחסוך זמן ולייעל את העבודה.</a:t>
            </a:r>
            <a:br>
              <a:rPr lang="en-US" dirty="0">
                <a:solidFill>
                  <a:srgbClr val="FFFFFF"/>
                </a:solidFill>
                <a:latin typeface="Arial"/>
              </a:rPr>
            </a:br>
            <a:br>
              <a:rPr lang="en-US" dirty="0">
                <a:solidFill>
                  <a:srgbClr val="FFFFFF"/>
                </a:solidFill>
                <a:latin typeface="Arial"/>
              </a:rPr>
            </a:br>
            <a:r>
              <a:rPr sz="1800" dirty="0">
                <a:solidFill>
                  <a:srgbClr val="FFFFFF"/>
                </a:solidFill>
                <a:latin typeface="Arial"/>
              </a:rPr>
              <a:t>•  </a:t>
            </a:r>
            <a:r>
              <a:rPr lang="he-IL" sz="1800" dirty="0">
                <a:solidFill>
                  <a:srgbClr val="FFFFFF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FFFFFF"/>
                </a:solidFill>
                <a:latin typeface="Arial"/>
              </a:rPr>
              <a:t>המצגת</a:t>
            </a:r>
            <a:r>
              <a:rPr sz="1800" dirty="0">
                <a:solidFill>
                  <a:srgbClr val="FFFFFF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FFFFFF"/>
                </a:solidFill>
                <a:latin typeface="Arial"/>
              </a:rPr>
              <a:t>מציגה</a:t>
            </a:r>
            <a:r>
              <a:rPr sz="1800" dirty="0">
                <a:solidFill>
                  <a:srgbClr val="FFFFFF"/>
                </a:solidFill>
                <a:latin typeface="Arial"/>
              </a:rPr>
              <a:t>, </a:t>
            </a:r>
            <a:r>
              <a:rPr sz="1800" dirty="0" err="1">
                <a:solidFill>
                  <a:srgbClr val="FFFFFF"/>
                </a:solidFill>
                <a:latin typeface="Arial"/>
              </a:rPr>
              <a:t>לכל</a:t>
            </a:r>
            <a:r>
              <a:rPr sz="1800" dirty="0">
                <a:solidFill>
                  <a:srgbClr val="FFFFFF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FFFFFF"/>
                </a:solidFill>
                <a:latin typeface="Arial"/>
              </a:rPr>
              <a:t>קטגוריה</a:t>
            </a:r>
            <a:r>
              <a:rPr lang="he-IL" sz="1800" dirty="0">
                <a:solidFill>
                  <a:srgbClr val="FFFFFF"/>
                </a:solidFill>
                <a:latin typeface="Arial"/>
              </a:rPr>
              <a:t> איך היינו עובדים פעם (ידנית) </a:t>
            </a:r>
            <a:r>
              <a:rPr lang="en-US" sz="1800" dirty="0">
                <a:solidFill>
                  <a:srgbClr val="FFFFFF"/>
                </a:solidFill>
                <a:latin typeface="Arial"/>
              </a:rPr>
              <a:t> </a:t>
            </a:r>
            <a:r>
              <a:rPr lang="he-IL" sz="1800" b="1" dirty="0">
                <a:solidFill>
                  <a:srgbClr val="FFFFFF"/>
                </a:solidFill>
                <a:latin typeface="Arial"/>
              </a:rPr>
              <a:t>לעומת</a:t>
            </a:r>
            <a:r>
              <a:rPr lang="he-IL" sz="1800" dirty="0">
                <a:solidFill>
                  <a:srgbClr val="FFFFFF"/>
                </a:solidFill>
                <a:latin typeface="Arial"/>
              </a:rPr>
              <a:t> </a:t>
            </a:r>
            <a:r>
              <a:rPr lang="he-IL" dirty="0">
                <a:solidFill>
                  <a:srgbClr val="FFFFFF"/>
                </a:solidFill>
                <a:latin typeface="Arial"/>
              </a:rPr>
              <a:t>כיום באמצעות אוטומציות</a:t>
            </a:r>
            <a:r>
              <a:rPr lang="he-IL" sz="1800" dirty="0">
                <a:solidFill>
                  <a:srgbClr val="FFFFFF"/>
                </a:solidFill>
                <a:latin typeface="Arial"/>
              </a:rPr>
              <a:t>,</a:t>
            </a:r>
            <a:br>
              <a:rPr lang="en-US" sz="1800" dirty="0">
                <a:solidFill>
                  <a:srgbClr val="FFFFFF"/>
                </a:solidFill>
                <a:latin typeface="Arial"/>
              </a:rPr>
            </a:br>
            <a:r>
              <a:rPr lang="he-IL" sz="1800" dirty="0">
                <a:solidFill>
                  <a:srgbClr val="FFFFFF"/>
                </a:solidFill>
                <a:latin typeface="Arial"/>
              </a:rPr>
              <a:t>    והכי חשוב כמה </a:t>
            </a:r>
            <a:r>
              <a:rPr sz="1800" dirty="0" err="1">
                <a:solidFill>
                  <a:srgbClr val="FFFFFF"/>
                </a:solidFill>
                <a:latin typeface="Arial"/>
              </a:rPr>
              <a:t>זמן</a:t>
            </a:r>
            <a:r>
              <a:rPr sz="1800" dirty="0">
                <a:solidFill>
                  <a:srgbClr val="FFFFFF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FFFFFF"/>
                </a:solidFill>
                <a:latin typeface="Arial"/>
              </a:rPr>
              <a:t>זה</a:t>
            </a:r>
            <a:r>
              <a:rPr sz="1800" dirty="0">
                <a:solidFill>
                  <a:srgbClr val="FFFFFF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FFFFFF"/>
                </a:solidFill>
                <a:latin typeface="Arial"/>
              </a:rPr>
              <a:t>חוסך</a:t>
            </a:r>
            <a:r>
              <a:rPr lang="he-IL" sz="1800" dirty="0">
                <a:solidFill>
                  <a:srgbClr val="FFFFFF"/>
                </a:solidFill>
                <a:latin typeface="Arial"/>
              </a:rPr>
              <a:t> בפועל</a:t>
            </a:r>
            <a:r>
              <a:rPr sz="1800" dirty="0">
                <a:solidFill>
                  <a:srgbClr val="FFFFFF"/>
                </a:solidFill>
                <a:latin typeface="Arial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2743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ADBDD0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0" y="6446520"/>
            <a:ext cx="27706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ADBDD0"/>
                </a:solidFill>
                <a:latin typeface="Arial"/>
              </a:rPr>
              <a:t>PS Automation  •  HIPER Global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1494008" y="457200"/>
            <a:ext cx="146304" cy="1005840"/>
          </a:xfrm>
          <a:prstGeom prst="roundRect">
            <a:avLst/>
          </a:prstGeom>
          <a:solidFill>
            <a:srgbClr val="F27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10835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1500" b="1" dirty="0" err="1">
                <a:solidFill>
                  <a:srgbClr val="F27A1D"/>
                </a:solidFill>
                <a:latin typeface="Arial"/>
              </a:rPr>
              <a:t>התמונה</a:t>
            </a:r>
            <a:r>
              <a:rPr sz="1500" b="1" dirty="0">
                <a:solidFill>
                  <a:srgbClr val="F27A1D"/>
                </a:solidFill>
                <a:latin typeface="Arial"/>
              </a:rPr>
              <a:t> </a:t>
            </a:r>
            <a:r>
              <a:rPr sz="1500" b="1" dirty="0" err="1">
                <a:solidFill>
                  <a:srgbClr val="F27A1D"/>
                </a:solidFill>
                <a:latin typeface="Arial"/>
              </a:rPr>
              <a:t>הגדולה</a:t>
            </a:r>
            <a:endParaRPr sz="1500" b="1" dirty="0">
              <a:solidFill>
                <a:srgbClr val="F27A1D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83564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2800" b="1" dirty="0" err="1">
                <a:solidFill>
                  <a:srgbClr val="FFFFFF"/>
                </a:solidFill>
                <a:latin typeface="Arial"/>
              </a:rPr>
              <a:t>העבודה</a:t>
            </a:r>
            <a:r>
              <a:rPr sz="28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800" b="1" dirty="0" err="1">
                <a:solidFill>
                  <a:srgbClr val="FFFFFF"/>
                </a:solidFill>
                <a:latin typeface="Arial"/>
              </a:rPr>
              <a:t>הידנית</a:t>
            </a:r>
            <a:r>
              <a:rPr sz="28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800" b="1" dirty="0" err="1">
                <a:solidFill>
                  <a:srgbClr val="FFFFFF"/>
                </a:solidFill>
                <a:latin typeface="Arial"/>
              </a:rPr>
              <a:t>מול</a:t>
            </a:r>
            <a:r>
              <a:rPr sz="2800" b="1" dirty="0">
                <a:solidFill>
                  <a:srgbClr val="FFFFFF"/>
                </a:solidFill>
                <a:latin typeface="Arial"/>
              </a:rPr>
              <a:t> </a:t>
            </a:r>
            <a:r>
              <a:rPr lang="he-IL" sz="2800" b="1" dirty="0">
                <a:solidFill>
                  <a:srgbClr val="FFFFFF"/>
                </a:solidFill>
                <a:latin typeface="Arial"/>
              </a:rPr>
              <a:t>אוטומציות</a:t>
            </a:r>
            <a:endParaRPr sz="28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245352" y="1828800"/>
            <a:ext cx="5394960" cy="3931920"/>
          </a:xfrm>
          <a:prstGeom prst="roundRect">
            <a:avLst/>
          </a:prstGeom>
          <a:solidFill>
            <a:srgbClr val="30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45352" y="1828800"/>
            <a:ext cx="5394960" cy="548640"/>
          </a:xfrm>
          <a:prstGeom prst="roundRect">
            <a:avLst/>
          </a:prstGeom>
          <a:solidFill>
            <a:srgbClr val="E5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45352" y="1858800"/>
            <a:ext cx="5394960" cy="353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lang="he-IL" sz="1700" b="1" dirty="0" err="1">
                <a:solidFill>
                  <a:srgbClr val="240E0E"/>
                </a:solidFill>
                <a:latin typeface="Arial"/>
              </a:rPr>
              <a:t>וולידציות</a:t>
            </a:r>
            <a:r>
              <a:rPr lang="he-IL" sz="1700" b="1" dirty="0">
                <a:solidFill>
                  <a:srgbClr val="240E0E"/>
                </a:solidFill>
                <a:latin typeface="Arial"/>
              </a:rPr>
              <a:t> ידניות</a:t>
            </a:r>
            <a:endParaRPr sz="1700" b="1" dirty="0">
              <a:solidFill>
                <a:srgbClr val="240E0E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395352" y="2588800"/>
            <a:ext cx="509496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200"/>
              </a:spcAft>
            </a:pPr>
            <a:r>
              <a:rPr sz="1600" dirty="0">
                <a:solidFill>
                  <a:srgbClr val="F3CBC6"/>
                </a:solidFill>
                <a:latin typeface="Arial"/>
              </a:rPr>
              <a:t>•  </a:t>
            </a:r>
            <a:r>
              <a:rPr sz="1600" dirty="0" err="1">
                <a:solidFill>
                  <a:srgbClr val="F3CBC6"/>
                </a:solidFill>
                <a:latin typeface="Arial"/>
              </a:rPr>
              <a:t>התחברות</a:t>
            </a:r>
            <a:r>
              <a:rPr sz="1600" dirty="0">
                <a:solidFill>
                  <a:srgbClr val="F3CBC6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F3CBC6"/>
                </a:solidFill>
                <a:latin typeface="Arial"/>
              </a:rPr>
              <a:t>ידנית</a:t>
            </a:r>
            <a:r>
              <a:rPr sz="1600" dirty="0">
                <a:solidFill>
                  <a:srgbClr val="F3CBC6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F3CBC6"/>
                </a:solidFill>
                <a:latin typeface="Arial"/>
              </a:rPr>
              <a:t>לכל</a:t>
            </a:r>
            <a:r>
              <a:rPr sz="1600" dirty="0">
                <a:solidFill>
                  <a:srgbClr val="F3CBC6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F3CBC6"/>
                </a:solidFill>
                <a:latin typeface="Arial"/>
              </a:rPr>
              <a:t>שרת</a:t>
            </a:r>
            <a:r>
              <a:rPr sz="1600" dirty="0">
                <a:solidFill>
                  <a:srgbClr val="F3CBC6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F3CBC6"/>
                </a:solidFill>
                <a:latin typeface="Arial"/>
              </a:rPr>
              <a:t>בנפרד</a:t>
            </a:r>
            <a:r>
              <a:rPr sz="1600" dirty="0">
                <a:solidFill>
                  <a:srgbClr val="F3CBC6"/>
                </a:solidFill>
                <a:latin typeface="Arial"/>
              </a:rPr>
              <a:t>, </a:t>
            </a:r>
            <a:r>
              <a:rPr sz="1600" dirty="0" err="1">
                <a:solidFill>
                  <a:srgbClr val="F3CBC6"/>
                </a:solidFill>
                <a:latin typeface="Arial"/>
              </a:rPr>
              <a:t>אחד-אחד</a:t>
            </a:r>
            <a:r>
              <a:rPr sz="1600" dirty="0">
                <a:solidFill>
                  <a:srgbClr val="F3CBC6"/>
                </a:solidFill>
                <a:latin typeface="Arial"/>
              </a:rPr>
              <a:t>.</a:t>
            </a:r>
          </a:p>
          <a:p>
            <a:pPr algn="r" rtl="1">
              <a:spcAft>
                <a:spcPts val="1200"/>
              </a:spcAft>
            </a:pPr>
            <a:r>
              <a:rPr sz="1600" dirty="0">
                <a:solidFill>
                  <a:srgbClr val="F3CBC6"/>
                </a:solidFill>
                <a:latin typeface="Arial"/>
              </a:rPr>
              <a:t>•  </a:t>
            </a:r>
            <a:r>
              <a:rPr sz="1600" dirty="0" err="1">
                <a:solidFill>
                  <a:srgbClr val="F3CBC6"/>
                </a:solidFill>
                <a:latin typeface="Arial"/>
              </a:rPr>
              <a:t>צילומי</a:t>
            </a:r>
            <a:r>
              <a:rPr sz="1600" dirty="0">
                <a:solidFill>
                  <a:srgbClr val="F3CBC6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F3CBC6"/>
                </a:solidFill>
                <a:latin typeface="Arial"/>
              </a:rPr>
              <a:t>מסך</a:t>
            </a:r>
            <a:r>
              <a:rPr sz="1600" dirty="0">
                <a:solidFill>
                  <a:srgbClr val="F3CBC6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F3CBC6"/>
                </a:solidFill>
                <a:latin typeface="Arial"/>
              </a:rPr>
              <a:t>ידניים</a:t>
            </a:r>
            <a:r>
              <a:rPr sz="1600" dirty="0">
                <a:solidFill>
                  <a:srgbClr val="F3CBC6"/>
                </a:solidFill>
                <a:latin typeface="Arial"/>
              </a:rPr>
              <a:t> </a:t>
            </a:r>
            <a:r>
              <a:rPr lang="he-IL" sz="1600" dirty="0">
                <a:solidFill>
                  <a:srgbClr val="F3CBC6"/>
                </a:solidFill>
                <a:latin typeface="Arial"/>
              </a:rPr>
              <a:t>-&gt; רושמים כותרת מתאימה -&gt; הדבקת הצילום בקובץ </a:t>
            </a:r>
            <a:r>
              <a:rPr lang="en-US" sz="1600" dirty="0">
                <a:solidFill>
                  <a:srgbClr val="F3CBC6"/>
                </a:solidFill>
                <a:latin typeface="Arial"/>
              </a:rPr>
              <a:t>Word</a:t>
            </a:r>
            <a:r>
              <a:rPr lang="he-IL" sz="1600" dirty="0">
                <a:solidFill>
                  <a:srgbClr val="F3CBC6"/>
                </a:solidFill>
                <a:latin typeface="Arial"/>
              </a:rPr>
              <a:t> , חוזרים על פעולה זו בכל שרת 6 פעמים לכל הפחות.</a:t>
            </a:r>
            <a:br>
              <a:rPr lang="en-US" sz="1600" dirty="0">
                <a:solidFill>
                  <a:srgbClr val="F3CBC6"/>
                </a:solidFill>
                <a:latin typeface="Arial"/>
              </a:rPr>
            </a:br>
            <a:r>
              <a:rPr sz="1600" dirty="0">
                <a:solidFill>
                  <a:srgbClr val="F3CBC6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F3CBC6"/>
                </a:solidFill>
                <a:latin typeface="Arial"/>
              </a:rPr>
              <a:t>טעויות</a:t>
            </a:r>
            <a:r>
              <a:rPr sz="1600" dirty="0">
                <a:solidFill>
                  <a:srgbClr val="F3CBC6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F3CBC6"/>
                </a:solidFill>
                <a:latin typeface="Arial"/>
              </a:rPr>
              <a:t>אנוש</a:t>
            </a:r>
            <a:r>
              <a:rPr sz="1600" dirty="0">
                <a:solidFill>
                  <a:srgbClr val="F3CBC6"/>
                </a:solidFill>
                <a:latin typeface="Arial"/>
              </a:rPr>
              <a:t>: </a:t>
            </a:r>
            <a:r>
              <a:rPr lang="he-IL" sz="1600" dirty="0">
                <a:solidFill>
                  <a:srgbClr val="F3CBC6"/>
                </a:solidFill>
                <a:latin typeface="Arial"/>
              </a:rPr>
              <a:t>צילום מסך שנשכח / צילום מסך שגוי.</a:t>
            </a:r>
            <a:endParaRPr sz="1600" dirty="0">
              <a:solidFill>
                <a:srgbClr val="F3CBC6"/>
              </a:solidFill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5394960" cy="3931920"/>
          </a:xfrm>
          <a:prstGeom prst="roundRect">
            <a:avLst/>
          </a:prstGeom>
          <a:solidFill>
            <a:srgbClr val="122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48640" y="1828800"/>
            <a:ext cx="5394960" cy="548640"/>
          </a:xfrm>
          <a:prstGeom prst="roundRect">
            <a:avLst/>
          </a:prstGeom>
          <a:solidFill>
            <a:srgbClr val="3FC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858800"/>
            <a:ext cx="5394960" cy="353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lang="he-IL" sz="1700" b="1" dirty="0" err="1">
                <a:solidFill>
                  <a:srgbClr val="04210F"/>
                </a:solidFill>
                <a:latin typeface="Arial"/>
              </a:rPr>
              <a:t>וולידציות</a:t>
            </a:r>
            <a:r>
              <a:rPr lang="he-IL" sz="1700" b="1" dirty="0">
                <a:solidFill>
                  <a:srgbClr val="04210F"/>
                </a:solidFill>
                <a:latin typeface="Arial"/>
              </a:rPr>
              <a:t> באמצעות</a:t>
            </a:r>
            <a:r>
              <a:rPr sz="1700" b="1" dirty="0">
                <a:solidFill>
                  <a:srgbClr val="04210F"/>
                </a:solidFill>
                <a:latin typeface="Arial"/>
              </a:rPr>
              <a:t> </a:t>
            </a:r>
            <a:r>
              <a:rPr lang="he-IL" sz="1700" b="1" dirty="0">
                <a:solidFill>
                  <a:srgbClr val="04210F"/>
                </a:solidFill>
                <a:latin typeface="Arial"/>
              </a:rPr>
              <a:t> </a:t>
            </a:r>
            <a:r>
              <a:rPr sz="1700" b="1" dirty="0">
                <a:solidFill>
                  <a:srgbClr val="04210F"/>
                </a:solidFill>
                <a:latin typeface="Arial"/>
              </a:rPr>
              <a:t>אוטומציה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8640" y="2588800"/>
            <a:ext cx="5094960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200"/>
              </a:spcAft>
            </a:pPr>
            <a:r>
              <a:rPr sz="1600" dirty="0">
                <a:solidFill>
                  <a:srgbClr val="C7F0D8"/>
                </a:solidFill>
                <a:latin typeface="Arial"/>
              </a:rPr>
              <a:t>•  </a:t>
            </a:r>
            <a:r>
              <a:rPr lang="he-IL" sz="1600" dirty="0">
                <a:solidFill>
                  <a:srgbClr val="C7F0D8"/>
                </a:solidFill>
                <a:latin typeface="Arial"/>
              </a:rPr>
              <a:t>צילום כלל </a:t>
            </a:r>
            <a:r>
              <a:rPr lang="he-IL" sz="1600" dirty="0" err="1">
                <a:solidFill>
                  <a:srgbClr val="C7F0D8"/>
                </a:solidFill>
                <a:latin typeface="Arial"/>
              </a:rPr>
              <a:t>הוולידציות</a:t>
            </a:r>
            <a:r>
              <a:rPr lang="he-IL" sz="1600" dirty="0">
                <a:solidFill>
                  <a:srgbClr val="C7F0D8"/>
                </a:solidFill>
                <a:latin typeface="Arial"/>
              </a:rPr>
              <a:t> בלחיצת כפתור אחת</a:t>
            </a:r>
            <a:r>
              <a:rPr sz="1600" dirty="0">
                <a:solidFill>
                  <a:srgbClr val="C7F0D8"/>
                </a:solidFill>
                <a:latin typeface="Arial"/>
              </a:rPr>
              <a:t>—</a:t>
            </a:r>
            <a:r>
              <a:rPr lang="he-IL" sz="1600" dirty="0">
                <a:solidFill>
                  <a:srgbClr val="C7F0D8"/>
                </a:solidFill>
                <a:latin typeface="Arial"/>
              </a:rPr>
              <a:t> כלומר בזמן שהאוטומציה רצה אני יכול לעבוד על דברים אחרים,</a:t>
            </a:r>
            <a:br>
              <a:rPr lang="en-US" sz="1600" dirty="0">
                <a:solidFill>
                  <a:srgbClr val="C7F0D8"/>
                </a:solidFill>
                <a:latin typeface="Arial"/>
              </a:rPr>
            </a:br>
            <a:r>
              <a:rPr lang="he-IL" sz="1600" dirty="0">
                <a:solidFill>
                  <a:srgbClr val="C7F0D8"/>
                </a:solidFill>
                <a:latin typeface="Arial"/>
              </a:rPr>
              <a:t>= ייעול זמן</a:t>
            </a:r>
            <a:r>
              <a:rPr sz="1600" dirty="0">
                <a:solidFill>
                  <a:srgbClr val="C7F0D8"/>
                </a:solidFill>
                <a:latin typeface="Arial"/>
              </a:rPr>
              <a:t>.</a:t>
            </a:r>
          </a:p>
          <a:p>
            <a:pPr algn="r" rtl="1">
              <a:spcAft>
                <a:spcPts val="1200"/>
              </a:spcAft>
            </a:pPr>
            <a:r>
              <a:rPr sz="1600" dirty="0">
                <a:solidFill>
                  <a:srgbClr val="C7F0D8"/>
                </a:solidFill>
                <a:latin typeface="Arial"/>
              </a:rPr>
              <a:t>•  </a:t>
            </a:r>
            <a:r>
              <a:rPr sz="1600" dirty="0" err="1">
                <a:solidFill>
                  <a:srgbClr val="C7F0D8"/>
                </a:solidFill>
                <a:latin typeface="Arial"/>
              </a:rPr>
              <a:t>צילומי</a:t>
            </a:r>
            <a:r>
              <a:rPr sz="1600" dirty="0">
                <a:solidFill>
                  <a:srgbClr val="C7F0D8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C7F0D8"/>
                </a:solidFill>
                <a:latin typeface="Arial"/>
              </a:rPr>
              <a:t>מסך</a:t>
            </a:r>
            <a:r>
              <a:rPr sz="1600" dirty="0">
                <a:solidFill>
                  <a:srgbClr val="C7F0D8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C7F0D8"/>
                </a:solidFill>
                <a:latin typeface="Arial"/>
              </a:rPr>
              <a:t>נלכדים</a:t>
            </a:r>
            <a:r>
              <a:rPr sz="1600" dirty="0">
                <a:solidFill>
                  <a:srgbClr val="C7F0D8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C7F0D8"/>
                </a:solidFill>
                <a:latin typeface="Arial"/>
              </a:rPr>
              <a:t>אוטומטית</a:t>
            </a:r>
            <a:r>
              <a:rPr sz="1600" dirty="0">
                <a:solidFill>
                  <a:srgbClr val="C7F0D8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C7F0D8"/>
                </a:solidFill>
                <a:latin typeface="Arial"/>
              </a:rPr>
              <a:t>לתוך</a:t>
            </a:r>
            <a:r>
              <a:rPr sz="1600" dirty="0">
                <a:solidFill>
                  <a:srgbClr val="C7F0D8"/>
                </a:solidFill>
                <a:latin typeface="Arial"/>
              </a:rPr>
              <a:t> </a:t>
            </a:r>
            <a:r>
              <a:rPr lang="he-IL" sz="1600" dirty="0">
                <a:solidFill>
                  <a:srgbClr val="C7F0D8"/>
                </a:solidFill>
                <a:latin typeface="Arial"/>
              </a:rPr>
              <a:t>קובץ </a:t>
            </a:r>
            <a:r>
              <a:rPr lang="en-US" sz="1600" dirty="0">
                <a:solidFill>
                  <a:srgbClr val="C7F0D8"/>
                </a:solidFill>
                <a:latin typeface="Arial"/>
              </a:rPr>
              <a:t>Word</a:t>
            </a:r>
            <a:r>
              <a:rPr lang="he-IL" sz="1600" dirty="0">
                <a:solidFill>
                  <a:srgbClr val="C7F0D8"/>
                </a:solidFill>
                <a:latin typeface="Arial"/>
              </a:rPr>
              <a:t> -&gt; נכנסים אוטומטית לתוך כותרות מסודרות עם שם מתאים + שרת מתאים + תאריך ושעה</a:t>
            </a:r>
            <a:endParaRPr sz="1600" dirty="0">
              <a:solidFill>
                <a:srgbClr val="C7F0D8"/>
              </a:solidFill>
              <a:latin typeface="Arial"/>
            </a:endParaRPr>
          </a:p>
          <a:p>
            <a:pPr algn="r" rtl="1">
              <a:spcAft>
                <a:spcPts val="1200"/>
              </a:spcAft>
            </a:pPr>
            <a:r>
              <a:rPr sz="1600" dirty="0">
                <a:solidFill>
                  <a:srgbClr val="C7F0D8"/>
                </a:solidFill>
                <a:latin typeface="Arial"/>
              </a:rPr>
              <a:t>•  </a:t>
            </a:r>
            <a:r>
              <a:rPr sz="1600" dirty="0" err="1">
                <a:solidFill>
                  <a:srgbClr val="C7F0D8"/>
                </a:solidFill>
                <a:latin typeface="Arial"/>
              </a:rPr>
              <a:t>אותה</a:t>
            </a:r>
            <a:r>
              <a:rPr sz="1600" dirty="0">
                <a:solidFill>
                  <a:srgbClr val="C7F0D8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C7F0D8"/>
                </a:solidFill>
                <a:latin typeface="Arial"/>
              </a:rPr>
              <a:t>בדיקה</a:t>
            </a:r>
            <a:r>
              <a:rPr sz="1600" dirty="0">
                <a:solidFill>
                  <a:srgbClr val="C7F0D8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C7F0D8"/>
                </a:solidFill>
                <a:latin typeface="Arial"/>
              </a:rPr>
              <a:t>בדיוק</a:t>
            </a:r>
            <a:r>
              <a:rPr sz="1600" dirty="0">
                <a:solidFill>
                  <a:srgbClr val="C7F0D8"/>
                </a:solidFill>
                <a:latin typeface="Arial"/>
              </a:rPr>
              <a:t>, </a:t>
            </a:r>
            <a:r>
              <a:rPr sz="1600" dirty="0" err="1">
                <a:solidFill>
                  <a:srgbClr val="C7F0D8"/>
                </a:solidFill>
                <a:latin typeface="Arial"/>
              </a:rPr>
              <a:t>על</a:t>
            </a:r>
            <a:r>
              <a:rPr sz="1600" dirty="0">
                <a:solidFill>
                  <a:srgbClr val="C7F0D8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C7F0D8"/>
                </a:solidFill>
                <a:latin typeface="Arial"/>
              </a:rPr>
              <a:t>כל</a:t>
            </a:r>
            <a:r>
              <a:rPr sz="1600" dirty="0">
                <a:solidFill>
                  <a:srgbClr val="C7F0D8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C7F0D8"/>
                </a:solidFill>
                <a:latin typeface="Arial"/>
              </a:rPr>
              <a:t>שרת</a:t>
            </a:r>
            <a:r>
              <a:rPr sz="1600" dirty="0">
                <a:solidFill>
                  <a:srgbClr val="C7F0D8"/>
                </a:solidFill>
                <a:latin typeface="Arial"/>
              </a:rPr>
              <a:t>, </a:t>
            </a:r>
            <a:r>
              <a:rPr sz="1600" dirty="0" err="1">
                <a:solidFill>
                  <a:srgbClr val="C7F0D8"/>
                </a:solidFill>
                <a:latin typeface="Arial"/>
              </a:rPr>
              <a:t>בכל</a:t>
            </a:r>
            <a:r>
              <a:rPr sz="1600" dirty="0">
                <a:solidFill>
                  <a:srgbClr val="C7F0D8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C7F0D8"/>
                </a:solidFill>
                <a:latin typeface="Arial"/>
              </a:rPr>
              <a:t>פעם</a:t>
            </a:r>
            <a:r>
              <a:rPr lang="he-IL" sz="1600" dirty="0">
                <a:solidFill>
                  <a:srgbClr val="C7F0D8"/>
                </a:solidFill>
                <a:latin typeface="Arial"/>
              </a:rPr>
              <a:t> מונע טעויות אנוש</a:t>
            </a:r>
            <a:r>
              <a:rPr sz="1600" dirty="0">
                <a:solidFill>
                  <a:srgbClr val="C7F0D8"/>
                </a:solidFill>
                <a:latin typeface="Arial"/>
              </a:rPr>
              <a:t>.</a:t>
            </a:r>
          </a:p>
          <a:p>
            <a:pPr algn="r" rtl="1">
              <a:spcAft>
                <a:spcPts val="1200"/>
              </a:spcAft>
            </a:pPr>
            <a:r>
              <a:rPr sz="1600" dirty="0">
                <a:solidFill>
                  <a:srgbClr val="C7F0D8"/>
                </a:solidFill>
                <a:latin typeface="Arial"/>
              </a:rPr>
              <a:t>•  </a:t>
            </a:r>
            <a:r>
              <a:rPr sz="1600" dirty="0" err="1">
                <a:solidFill>
                  <a:srgbClr val="C7F0D8"/>
                </a:solidFill>
                <a:latin typeface="Arial"/>
              </a:rPr>
              <a:t>בדיקת</a:t>
            </a:r>
            <a:r>
              <a:rPr sz="1600" dirty="0">
                <a:solidFill>
                  <a:srgbClr val="C7F0D8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C7F0D8"/>
                </a:solidFill>
                <a:latin typeface="Arial"/>
              </a:rPr>
              <a:t>מוכנות</a:t>
            </a:r>
            <a:r>
              <a:rPr sz="1600" dirty="0">
                <a:solidFill>
                  <a:srgbClr val="C7F0D8"/>
                </a:solidFill>
                <a:latin typeface="Arial"/>
              </a:rPr>
              <a:t> + </a:t>
            </a:r>
            <a:r>
              <a:rPr lang="he-IL" sz="1600" dirty="0">
                <a:solidFill>
                  <a:srgbClr val="C7F0D8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C7F0D8"/>
                </a:solidFill>
                <a:latin typeface="Arial"/>
              </a:rPr>
              <a:t>אישור</a:t>
            </a:r>
            <a:r>
              <a:rPr sz="1600" dirty="0">
                <a:solidFill>
                  <a:srgbClr val="C7F0D8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C7F0D8"/>
                </a:solidFill>
                <a:latin typeface="Arial"/>
              </a:rPr>
              <a:t>כפול</a:t>
            </a:r>
            <a:r>
              <a:rPr sz="1600" dirty="0">
                <a:solidFill>
                  <a:srgbClr val="C7F0D8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C7F0D8"/>
                </a:solidFill>
                <a:latin typeface="Arial"/>
              </a:rPr>
              <a:t>לפעולות</a:t>
            </a:r>
            <a:r>
              <a:rPr sz="1600" dirty="0">
                <a:solidFill>
                  <a:srgbClr val="C7F0D8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C7F0D8"/>
                </a:solidFill>
                <a:latin typeface="Arial"/>
              </a:rPr>
              <a:t>הרסניות</a:t>
            </a:r>
            <a:r>
              <a:rPr sz="1600" dirty="0">
                <a:solidFill>
                  <a:srgbClr val="C7F0D8"/>
                </a:solidFill>
                <a:latin typeface="Arial"/>
              </a:rPr>
              <a:t>.</a:t>
            </a:r>
          </a:p>
          <a:p>
            <a:pPr algn="r" rtl="1">
              <a:spcAft>
                <a:spcPts val="1200"/>
              </a:spcAft>
            </a:pPr>
            <a:r>
              <a:rPr sz="1600" dirty="0">
                <a:solidFill>
                  <a:srgbClr val="C7F0D8"/>
                </a:solidFill>
                <a:latin typeface="Arial"/>
              </a:rPr>
              <a:t>•  </a:t>
            </a:r>
            <a:r>
              <a:rPr sz="1600" dirty="0" err="1">
                <a:solidFill>
                  <a:srgbClr val="C7F0D8"/>
                </a:solidFill>
                <a:latin typeface="Arial"/>
              </a:rPr>
              <a:t>ממשק</a:t>
            </a:r>
            <a:r>
              <a:rPr sz="1600" dirty="0">
                <a:solidFill>
                  <a:srgbClr val="C7F0D8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C7F0D8"/>
                </a:solidFill>
                <a:latin typeface="Arial"/>
              </a:rPr>
              <a:t>אחד</a:t>
            </a:r>
            <a:r>
              <a:rPr sz="1600" dirty="0">
                <a:solidFill>
                  <a:srgbClr val="C7F0D8"/>
                </a:solidFill>
                <a:latin typeface="Arial"/>
              </a:rPr>
              <a:t>, </a:t>
            </a:r>
            <a:r>
              <a:rPr sz="1600" dirty="0" err="1">
                <a:solidFill>
                  <a:srgbClr val="C7F0D8"/>
                </a:solidFill>
                <a:latin typeface="Arial"/>
              </a:rPr>
              <a:t>התחברות</a:t>
            </a:r>
            <a:r>
              <a:rPr sz="1600" dirty="0">
                <a:solidFill>
                  <a:srgbClr val="C7F0D8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C7F0D8"/>
                </a:solidFill>
                <a:latin typeface="Arial"/>
              </a:rPr>
              <a:t>מאובטחת</a:t>
            </a:r>
            <a:r>
              <a:rPr sz="1600" dirty="0">
                <a:solidFill>
                  <a:srgbClr val="C7F0D8"/>
                </a:solidFill>
                <a:latin typeface="Arial"/>
              </a:rPr>
              <a:t>, </a:t>
            </a:r>
            <a:r>
              <a:rPr sz="1600" dirty="0" err="1">
                <a:solidFill>
                  <a:srgbClr val="C7F0D8"/>
                </a:solidFill>
                <a:latin typeface="Arial"/>
              </a:rPr>
              <a:t>היסטוריה</a:t>
            </a:r>
            <a:r>
              <a:rPr sz="1600" dirty="0">
                <a:solidFill>
                  <a:srgbClr val="C7F0D8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C7F0D8"/>
                </a:solidFill>
                <a:latin typeface="Arial"/>
              </a:rPr>
              <a:t>מלאה</a:t>
            </a:r>
            <a:r>
              <a:rPr sz="1600" dirty="0">
                <a:solidFill>
                  <a:srgbClr val="C7F0D8"/>
                </a:solidFill>
                <a:latin typeface="Arial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2743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ADBDD0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6446520"/>
            <a:ext cx="27706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ADBDD0"/>
                </a:solidFill>
                <a:latin typeface="Arial"/>
              </a:rPr>
              <a:t>PS Automation  •  HIPER Global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1494008" y="457200"/>
            <a:ext cx="146304" cy="1005840"/>
          </a:xfrm>
          <a:prstGeom prst="roundRect">
            <a:avLst/>
          </a:prstGeom>
          <a:solidFill>
            <a:srgbClr val="F27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10835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27A1D"/>
                </a:solidFill>
                <a:latin typeface="Arial"/>
              </a:rPr>
              <a:t>קטגוריה · דוחות (Reports)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83564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lang="he-IL" sz="2800" b="1" dirty="0" err="1">
                <a:solidFill>
                  <a:srgbClr val="FFFFFF"/>
                </a:solidFill>
                <a:latin typeface="Arial"/>
              </a:rPr>
              <a:t>ולידציות</a:t>
            </a:r>
            <a:r>
              <a:rPr lang="he-IL" sz="2800" b="1" dirty="0">
                <a:solidFill>
                  <a:srgbClr val="FFFFFF"/>
                </a:solidFill>
                <a:latin typeface="Arial"/>
              </a:rPr>
              <a:t> צילום מסך</a:t>
            </a:r>
            <a:endParaRPr sz="28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2957520" cy="503880"/>
          </a:xfrm>
          <a:prstGeom prst="roundRect">
            <a:avLst/>
          </a:prstGeom>
          <a:solidFill>
            <a:srgbClr val="F27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18640" y="2316000"/>
            <a:ext cx="2827520" cy="50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E1A2B"/>
                </a:solidFill>
                <a:latin typeface="Arial"/>
              </a:rPr>
              <a:t>דוח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2286000"/>
            <a:ext cx="1220160" cy="503880"/>
          </a:xfrm>
          <a:prstGeom prst="roundRect">
            <a:avLst/>
          </a:prstGeom>
          <a:solidFill>
            <a:srgbClr val="F27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36160" y="2316000"/>
            <a:ext cx="1090160" cy="50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E1A2B"/>
                </a:solidFill>
                <a:latin typeface="Arial"/>
              </a:rPr>
              <a:t>מסכים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2286000"/>
            <a:ext cx="2317440" cy="503880"/>
          </a:xfrm>
          <a:prstGeom prst="roundRect">
            <a:avLst/>
          </a:prstGeom>
          <a:solidFill>
            <a:srgbClr val="F27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16320" y="2316000"/>
            <a:ext cx="2187440" cy="50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E1A2B"/>
                </a:solidFill>
                <a:latin typeface="Arial"/>
              </a:rPr>
              <a:t>סה"כ זמן שנחסך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0" y="2286000"/>
            <a:ext cx="2226000" cy="503880"/>
          </a:xfrm>
          <a:prstGeom prst="roundRect">
            <a:avLst/>
          </a:prstGeom>
          <a:solidFill>
            <a:srgbClr val="F27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93760" y="2316000"/>
            <a:ext cx="2096000" cy="50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E1A2B"/>
                </a:solidFill>
                <a:latin typeface="Arial"/>
              </a:rPr>
              <a:t>ידני — שרת בודד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09760" y="2286000"/>
            <a:ext cx="2070552" cy="503880"/>
          </a:xfrm>
          <a:prstGeom prst="roundRect">
            <a:avLst/>
          </a:prstGeom>
          <a:solidFill>
            <a:srgbClr val="F27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579760" y="2316000"/>
            <a:ext cx="1940552" cy="50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E1A2B"/>
                </a:solidFill>
                <a:latin typeface="Arial"/>
              </a:rPr>
              <a:t>אוטומטי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849880"/>
            <a:ext cx="2957520" cy="503880"/>
          </a:xfrm>
          <a:prstGeom prst="roundRect">
            <a:avLst/>
          </a:prstGeom>
          <a:solidFill>
            <a:srgbClr val="1727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8640" y="2879880"/>
            <a:ext cx="2827520" cy="50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iDRAC  (idrac_report)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66160" y="2849880"/>
            <a:ext cx="1220160" cy="503880"/>
          </a:xfrm>
          <a:prstGeom prst="roundRect">
            <a:avLst/>
          </a:prstGeom>
          <a:solidFill>
            <a:srgbClr val="1727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36160" y="2879880"/>
            <a:ext cx="1090160" cy="50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46320" y="2849880"/>
            <a:ext cx="2317440" cy="503880"/>
          </a:xfrm>
          <a:prstGeom prst="roundRect">
            <a:avLst/>
          </a:prstGeom>
          <a:solidFill>
            <a:srgbClr val="1727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916320" y="2879880"/>
            <a:ext cx="2187440" cy="50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3FC380"/>
                </a:solidFill>
                <a:latin typeface="Arial"/>
              </a:rPr>
              <a:t>כ-6 דק'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23760" y="2849880"/>
            <a:ext cx="2226000" cy="503880"/>
          </a:xfrm>
          <a:prstGeom prst="roundRect">
            <a:avLst/>
          </a:prstGeom>
          <a:solidFill>
            <a:srgbClr val="1727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293760" y="2879880"/>
            <a:ext cx="2096000" cy="50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C98A"/>
                </a:solidFill>
                <a:latin typeface="Arial"/>
              </a:rPr>
              <a:t>כ-8 דק'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09760" y="2849880"/>
            <a:ext cx="2070552" cy="503880"/>
          </a:xfrm>
          <a:prstGeom prst="roundRect">
            <a:avLst/>
          </a:prstGeom>
          <a:solidFill>
            <a:srgbClr val="1727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579760" y="2879880"/>
            <a:ext cx="1940552" cy="50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כ-2 דק'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413760"/>
            <a:ext cx="2957520" cy="503880"/>
          </a:xfrm>
          <a:prstGeom prst="roundRect">
            <a:avLst/>
          </a:prstGeom>
          <a:solidFill>
            <a:srgbClr val="1E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8640" y="3443760"/>
            <a:ext cx="2827520" cy="50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DCUI  (dcui_report)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566160" y="3413760"/>
            <a:ext cx="1220160" cy="503880"/>
          </a:xfrm>
          <a:prstGeom prst="roundRect">
            <a:avLst/>
          </a:prstGeom>
          <a:solidFill>
            <a:srgbClr val="1E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36160" y="3443760"/>
            <a:ext cx="1090160" cy="50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46320" y="3413760"/>
            <a:ext cx="2317440" cy="503880"/>
          </a:xfrm>
          <a:prstGeom prst="roundRect">
            <a:avLst/>
          </a:prstGeom>
          <a:solidFill>
            <a:srgbClr val="1E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916320" y="3541811"/>
            <a:ext cx="218744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1400" b="1" dirty="0">
                <a:solidFill>
                  <a:srgbClr val="3FC380"/>
                </a:solidFill>
                <a:latin typeface="Arial"/>
              </a:rPr>
              <a:t>כ-</a:t>
            </a:r>
            <a:r>
              <a:rPr lang="en-US" sz="1400" b="1" dirty="0">
                <a:solidFill>
                  <a:srgbClr val="3FC380"/>
                </a:solidFill>
                <a:latin typeface="Arial"/>
              </a:rPr>
              <a:t>3</a:t>
            </a:r>
            <a:r>
              <a:rPr sz="1400" b="1" dirty="0">
                <a:solidFill>
                  <a:srgbClr val="3FC380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3FC380"/>
                </a:solidFill>
                <a:latin typeface="Arial"/>
              </a:rPr>
              <a:t>דק</a:t>
            </a:r>
            <a:r>
              <a:rPr sz="1400" b="1" dirty="0">
                <a:solidFill>
                  <a:srgbClr val="3FC380"/>
                </a:solidFill>
                <a:latin typeface="Arial"/>
              </a:rPr>
              <a:t>'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23760" y="3413760"/>
            <a:ext cx="2226000" cy="503880"/>
          </a:xfrm>
          <a:prstGeom prst="roundRect">
            <a:avLst/>
          </a:prstGeom>
          <a:solidFill>
            <a:srgbClr val="1E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293760" y="3443760"/>
            <a:ext cx="2096000" cy="50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C98A"/>
                </a:solidFill>
                <a:latin typeface="Arial"/>
              </a:rPr>
              <a:t>כ-6 דק'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509760" y="3413760"/>
            <a:ext cx="2070552" cy="503880"/>
          </a:xfrm>
          <a:prstGeom prst="roundRect">
            <a:avLst/>
          </a:prstGeom>
          <a:solidFill>
            <a:srgbClr val="1E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579760" y="3541811"/>
            <a:ext cx="1940552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1400" b="0" dirty="0">
                <a:solidFill>
                  <a:srgbClr val="FFFFFF"/>
                </a:solidFill>
                <a:latin typeface="Arial"/>
              </a:rPr>
              <a:t>כ-</a:t>
            </a:r>
            <a:r>
              <a:rPr lang="en-US" sz="1400" b="0" dirty="0">
                <a:solidFill>
                  <a:srgbClr val="FFFFFF"/>
                </a:solidFill>
                <a:latin typeface="Arial"/>
              </a:rPr>
              <a:t>3</a:t>
            </a:r>
            <a:r>
              <a:rPr sz="14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Arial"/>
              </a:rPr>
              <a:t>דק</a:t>
            </a:r>
            <a:r>
              <a:rPr sz="1400" b="0" dirty="0">
                <a:solidFill>
                  <a:srgbClr val="FFFFFF"/>
                </a:solidFill>
                <a:latin typeface="Arial"/>
              </a:rPr>
              <a:t>'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3977640"/>
            <a:ext cx="2957520" cy="503880"/>
          </a:xfrm>
          <a:prstGeom prst="roundRect">
            <a:avLst/>
          </a:prstGeom>
          <a:solidFill>
            <a:srgbClr val="1727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18640" y="4007640"/>
            <a:ext cx="2827520" cy="50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VMware ESXi Host Client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566160" y="3977640"/>
            <a:ext cx="1220160" cy="503880"/>
          </a:xfrm>
          <a:prstGeom prst="roundRect">
            <a:avLst/>
          </a:prstGeom>
          <a:solidFill>
            <a:srgbClr val="1727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636160" y="4007640"/>
            <a:ext cx="1090160" cy="50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13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846320" y="3977640"/>
            <a:ext cx="2317440" cy="503880"/>
          </a:xfrm>
          <a:prstGeom prst="roundRect">
            <a:avLst/>
          </a:prstGeom>
          <a:solidFill>
            <a:srgbClr val="1727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916320" y="4105691"/>
            <a:ext cx="218744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1400" b="1" dirty="0">
                <a:solidFill>
                  <a:srgbClr val="3FC380"/>
                </a:solidFill>
                <a:latin typeface="Arial"/>
              </a:rPr>
              <a:t>כ-</a:t>
            </a:r>
            <a:r>
              <a:rPr lang="en-US" sz="1400" b="1" dirty="0">
                <a:solidFill>
                  <a:srgbClr val="3FC380"/>
                </a:solidFill>
                <a:latin typeface="Arial"/>
              </a:rPr>
              <a:t>9</a:t>
            </a:r>
            <a:r>
              <a:rPr sz="1400" b="1" dirty="0">
                <a:solidFill>
                  <a:srgbClr val="3FC380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3FC380"/>
                </a:solidFill>
                <a:latin typeface="Arial"/>
              </a:rPr>
              <a:t>דק</a:t>
            </a:r>
            <a:r>
              <a:rPr sz="1400" b="1" dirty="0">
                <a:solidFill>
                  <a:srgbClr val="3FC380"/>
                </a:solidFill>
                <a:latin typeface="Arial"/>
              </a:rPr>
              <a:t>'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223760" y="3977640"/>
            <a:ext cx="2226000" cy="503880"/>
          </a:xfrm>
          <a:prstGeom prst="roundRect">
            <a:avLst/>
          </a:prstGeom>
          <a:solidFill>
            <a:srgbClr val="1727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293760" y="4007640"/>
            <a:ext cx="2096000" cy="50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C98A"/>
                </a:solidFill>
                <a:latin typeface="Arial"/>
              </a:rPr>
              <a:t>כ-13 דק'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509760" y="3977640"/>
            <a:ext cx="2070552" cy="503880"/>
          </a:xfrm>
          <a:prstGeom prst="roundRect">
            <a:avLst/>
          </a:prstGeom>
          <a:solidFill>
            <a:srgbClr val="1727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579760" y="4105691"/>
            <a:ext cx="1940552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1400" b="0" dirty="0">
                <a:solidFill>
                  <a:srgbClr val="FFFFFF"/>
                </a:solidFill>
                <a:latin typeface="Arial"/>
              </a:rPr>
              <a:t>כ-</a:t>
            </a:r>
            <a:r>
              <a:rPr lang="en-US" sz="1400" b="0" dirty="0">
                <a:solidFill>
                  <a:srgbClr val="FFFFFF"/>
                </a:solidFill>
                <a:latin typeface="Arial"/>
              </a:rPr>
              <a:t>4</a:t>
            </a:r>
            <a:r>
              <a:rPr sz="14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Arial"/>
              </a:rPr>
              <a:t>דק</a:t>
            </a:r>
            <a:r>
              <a:rPr sz="1400" b="0" dirty="0">
                <a:solidFill>
                  <a:srgbClr val="FFFFFF"/>
                </a:solidFill>
                <a:latin typeface="Arial"/>
              </a:rPr>
              <a:t>'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40" y="4541520"/>
            <a:ext cx="2957520" cy="503880"/>
          </a:xfrm>
          <a:prstGeom prst="roundRect">
            <a:avLst/>
          </a:prstGeom>
          <a:solidFill>
            <a:srgbClr val="1E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18640" y="4571520"/>
            <a:ext cx="2827520" cy="50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Windows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566160" y="4541520"/>
            <a:ext cx="1220160" cy="503880"/>
          </a:xfrm>
          <a:prstGeom prst="roundRect">
            <a:avLst/>
          </a:prstGeom>
          <a:solidFill>
            <a:srgbClr val="1E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636160" y="4571520"/>
            <a:ext cx="1090160" cy="50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846320" y="4541520"/>
            <a:ext cx="2317440" cy="503880"/>
          </a:xfrm>
          <a:prstGeom prst="roundRect">
            <a:avLst/>
          </a:prstGeom>
          <a:solidFill>
            <a:srgbClr val="1E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916320" y="4571520"/>
            <a:ext cx="2187440" cy="50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3FC380"/>
                </a:solidFill>
                <a:latin typeface="Arial"/>
              </a:rPr>
              <a:t>כ-5 דק'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223760" y="4541520"/>
            <a:ext cx="2226000" cy="503880"/>
          </a:xfrm>
          <a:prstGeom prst="roundRect">
            <a:avLst/>
          </a:prstGeom>
          <a:solidFill>
            <a:srgbClr val="1E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293760" y="4571520"/>
            <a:ext cx="2096000" cy="50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C98A"/>
                </a:solidFill>
                <a:latin typeface="Arial"/>
              </a:rPr>
              <a:t>כ-7 דק'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509760" y="4541520"/>
            <a:ext cx="2070552" cy="503880"/>
          </a:xfrm>
          <a:prstGeom prst="roundRect">
            <a:avLst/>
          </a:prstGeom>
          <a:solidFill>
            <a:srgbClr val="1E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579760" y="4571520"/>
            <a:ext cx="1940552" cy="50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כ-2 דק'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48640" y="5105400"/>
            <a:ext cx="2957520" cy="503880"/>
          </a:xfrm>
          <a:prstGeom prst="roundRect">
            <a:avLst/>
          </a:prstGeom>
          <a:solidFill>
            <a:srgbClr val="24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18640" y="5135400"/>
            <a:ext cx="2827520" cy="50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3FC380"/>
                </a:solidFill>
                <a:latin typeface="Arial"/>
              </a:rPr>
              <a:t>סה"כ — שרת בודד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566160" y="5105400"/>
            <a:ext cx="1220160" cy="503880"/>
          </a:xfrm>
          <a:prstGeom prst="roundRect">
            <a:avLst/>
          </a:prstGeom>
          <a:solidFill>
            <a:srgbClr val="24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636160" y="5135400"/>
            <a:ext cx="1090160" cy="50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3FC380"/>
                </a:solidFill>
                <a:latin typeface="Arial"/>
              </a:rPr>
              <a:t>33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846320" y="5105400"/>
            <a:ext cx="2317440" cy="503880"/>
          </a:xfrm>
          <a:prstGeom prst="roundRect">
            <a:avLst/>
          </a:prstGeom>
          <a:solidFill>
            <a:srgbClr val="24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916320" y="5233451"/>
            <a:ext cx="218744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1400" b="1" dirty="0">
                <a:solidFill>
                  <a:srgbClr val="3FC380"/>
                </a:solidFill>
                <a:latin typeface="Arial"/>
              </a:rPr>
              <a:t>כ-2</a:t>
            </a:r>
            <a:r>
              <a:rPr lang="en-US" sz="1400" b="1" dirty="0">
                <a:solidFill>
                  <a:srgbClr val="3FC380"/>
                </a:solidFill>
                <a:latin typeface="Arial"/>
              </a:rPr>
              <a:t>3</a:t>
            </a:r>
            <a:r>
              <a:rPr sz="1400" b="1" dirty="0">
                <a:solidFill>
                  <a:srgbClr val="3FC380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3FC380"/>
                </a:solidFill>
                <a:latin typeface="Arial"/>
              </a:rPr>
              <a:t>דק</a:t>
            </a:r>
            <a:r>
              <a:rPr sz="1400" b="1" dirty="0">
                <a:solidFill>
                  <a:srgbClr val="3FC380"/>
                </a:solidFill>
                <a:latin typeface="Arial"/>
              </a:rPr>
              <a:t>'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223760" y="5105400"/>
            <a:ext cx="2226000" cy="503880"/>
          </a:xfrm>
          <a:prstGeom prst="roundRect">
            <a:avLst/>
          </a:prstGeom>
          <a:solidFill>
            <a:srgbClr val="24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293760" y="5135400"/>
            <a:ext cx="2096000" cy="50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3FC380"/>
                </a:solidFill>
                <a:latin typeface="Arial"/>
              </a:rPr>
              <a:t>כ-34 דק'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509760" y="5105400"/>
            <a:ext cx="2070552" cy="503880"/>
          </a:xfrm>
          <a:prstGeom prst="roundRect">
            <a:avLst/>
          </a:prstGeom>
          <a:solidFill>
            <a:srgbClr val="24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579760" y="5233451"/>
            <a:ext cx="1940552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1400" b="1" dirty="0">
                <a:solidFill>
                  <a:srgbClr val="3FC380"/>
                </a:solidFill>
                <a:latin typeface="Arial"/>
              </a:rPr>
              <a:t>כ-</a:t>
            </a:r>
            <a:r>
              <a:rPr lang="en-US" sz="1400" b="1" dirty="0">
                <a:solidFill>
                  <a:srgbClr val="3FC380"/>
                </a:solidFill>
                <a:latin typeface="Arial"/>
              </a:rPr>
              <a:t>11</a:t>
            </a:r>
            <a:r>
              <a:rPr sz="1400" b="1" dirty="0">
                <a:solidFill>
                  <a:srgbClr val="3FC380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3FC380"/>
                </a:solidFill>
                <a:latin typeface="Arial"/>
              </a:rPr>
              <a:t>דק</a:t>
            </a:r>
            <a:r>
              <a:rPr sz="1400" b="1" dirty="0">
                <a:solidFill>
                  <a:srgbClr val="3FC380"/>
                </a:solidFill>
                <a:latin typeface="Arial"/>
              </a:rPr>
              <a:t>'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48640" y="6446520"/>
            <a:ext cx="2743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ADBDD0"/>
                </a:solidFill>
                <a:latin typeface="Arial"/>
              </a:rPr>
              <a:t>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869680" y="6446520"/>
            <a:ext cx="27706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dirty="0">
                <a:solidFill>
                  <a:srgbClr val="ADBDD0"/>
                </a:solidFill>
                <a:latin typeface="Arial"/>
              </a:rPr>
              <a:t>PS Automation  •  HIPER Global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1494008" y="457200"/>
            <a:ext cx="146304" cy="1005840"/>
          </a:xfrm>
          <a:prstGeom prst="roundRect">
            <a:avLst/>
          </a:prstGeom>
          <a:solidFill>
            <a:srgbClr val="F27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10835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27A1D"/>
                </a:solidFill>
                <a:latin typeface="Arial"/>
              </a:rPr>
              <a:t>קטגוריה · קונפיגורציה (Configuration)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835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שינוי הגדרות iDRAC / ESXi / Red Hat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45352" y="1691640"/>
            <a:ext cx="5394960" cy="3246120"/>
          </a:xfrm>
          <a:prstGeom prst="roundRect">
            <a:avLst/>
          </a:prstGeom>
          <a:solidFill>
            <a:srgbClr val="30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45352" y="1691640"/>
            <a:ext cx="5394960" cy="530352"/>
          </a:xfrm>
          <a:prstGeom prst="roundRect">
            <a:avLst/>
          </a:prstGeom>
          <a:solidFill>
            <a:srgbClr val="E5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45352" y="1721640"/>
            <a:ext cx="5394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40E0E"/>
                </a:solidFill>
                <a:latin typeface="Arial"/>
              </a:rPr>
              <a:t>לפני — ידני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85352" y="2411640"/>
            <a:ext cx="5114960" cy="1361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900"/>
              </a:spcAft>
            </a:pPr>
            <a:r>
              <a:rPr sz="1500" dirty="0">
                <a:solidFill>
                  <a:srgbClr val="F3CBC6"/>
                </a:solidFill>
                <a:latin typeface="Arial"/>
              </a:rPr>
              <a:t>•  </a:t>
            </a:r>
            <a:r>
              <a:rPr sz="1500" dirty="0" err="1">
                <a:solidFill>
                  <a:srgbClr val="F3CBC6"/>
                </a:solidFill>
                <a:latin typeface="Arial"/>
              </a:rPr>
              <a:t>כל</a:t>
            </a:r>
            <a:r>
              <a:rPr sz="1500" dirty="0">
                <a:solidFill>
                  <a:srgbClr val="F3CBC6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F3CBC6"/>
                </a:solidFill>
                <a:latin typeface="Arial"/>
              </a:rPr>
              <a:t>שינוי</a:t>
            </a:r>
            <a:r>
              <a:rPr sz="1500" dirty="0">
                <a:solidFill>
                  <a:srgbClr val="F3CBC6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F3CBC6"/>
                </a:solidFill>
                <a:latin typeface="Arial"/>
              </a:rPr>
              <a:t>שם</a:t>
            </a:r>
            <a:r>
              <a:rPr sz="1500" dirty="0">
                <a:solidFill>
                  <a:srgbClr val="F3CBC6"/>
                </a:solidFill>
                <a:latin typeface="Arial"/>
              </a:rPr>
              <a:t> iDRAC, DNS/NTP, </a:t>
            </a:r>
            <a:r>
              <a:rPr sz="1500" dirty="0" err="1">
                <a:solidFill>
                  <a:srgbClr val="F3CBC6"/>
                </a:solidFill>
                <a:latin typeface="Arial"/>
              </a:rPr>
              <a:t>כתובת</a:t>
            </a:r>
            <a:r>
              <a:rPr sz="1500" dirty="0">
                <a:solidFill>
                  <a:srgbClr val="F3CBC6"/>
                </a:solidFill>
                <a:latin typeface="Arial"/>
              </a:rPr>
              <a:t> IP) </a:t>
            </a:r>
            <a:r>
              <a:rPr sz="1500" dirty="0" err="1">
                <a:solidFill>
                  <a:srgbClr val="F3CBC6"/>
                </a:solidFill>
                <a:latin typeface="Arial"/>
              </a:rPr>
              <a:t>ידני</a:t>
            </a:r>
            <a:r>
              <a:rPr sz="1500" dirty="0">
                <a:solidFill>
                  <a:srgbClr val="F3CBC6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F3CBC6"/>
                </a:solidFill>
                <a:latin typeface="Arial"/>
              </a:rPr>
              <a:t>פר-שרת</a:t>
            </a:r>
            <a:r>
              <a:rPr sz="1500" dirty="0">
                <a:solidFill>
                  <a:srgbClr val="F3CBC6"/>
                </a:solidFill>
                <a:latin typeface="Arial"/>
              </a:rPr>
              <a:t>.</a:t>
            </a:r>
          </a:p>
          <a:p>
            <a:pPr algn="r" rtl="1">
              <a:spcAft>
                <a:spcPts val="900"/>
              </a:spcAft>
            </a:pPr>
            <a:r>
              <a:rPr sz="1500" dirty="0">
                <a:solidFill>
                  <a:srgbClr val="F3CBC6"/>
                </a:solidFill>
                <a:latin typeface="Arial"/>
              </a:rPr>
              <a:t>•  </a:t>
            </a:r>
            <a:r>
              <a:rPr sz="1500" dirty="0" err="1">
                <a:solidFill>
                  <a:srgbClr val="F3CBC6"/>
                </a:solidFill>
                <a:latin typeface="Arial"/>
              </a:rPr>
              <a:t>התחברות</a:t>
            </a:r>
            <a:r>
              <a:rPr sz="1500" dirty="0">
                <a:solidFill>
                  <a:srgbClr val="F3CBC6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F3CBC6"/>
                </a:solidFill>
                <a:latin typeface="Arial"/>
              </a:rPr>
              <a:t>נפרדת</a:t>
            </a:r>
            <a:r>
              <a:rPr sz="1500" dirty="0">
                <a:solidFill>
                  <a:srgbClr val="F3CBC6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F3CBC6"/>
                </a:solidFill>
                <a:latin typeface="Arial"/>
              </a:rPr>
              <a:t>לכל</a:t>
            </a:r>
            <a:r>
              <a:rPr sz="1500" dirty="0">
                <a:solidFill>
                  <a:srgbClr val="F3CBC6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F3CBC6"/>
                </a:solidFill>
                <a:latin typeface="Arial"/>
              </a:rPr>
              <a:t>שרת</a:t>
            </a:r>
            <a:r>
              <a:rPr sz="1500" dirty="0">
                <a:solidFill>
                  <a:srgbClr val="F3CBC6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F3CBC6"/>
                </a:solidFill>
                <a:latin typeface="Arial"/>
              </a:rPr>
              <a:t>דרך</a:t>
            </a:r>
            <a:r>
              <a:rPr sz="1500" dirty="0">
                <a:solidFill>
                  <a:srgbClr val="F3CBC6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F3CBC6"/>
                </a:solidFill>
                <a:latin typeface="Arial"/>
              </a:rPr>
              <a:t>racadm</a:t>
            </a:r>
            <a:r>
              <a:rPr sz="1500" dirty="0">
                <a:solidFill>
                  <a:srgbClr val="F3CBC6"/>
                </a:solidFill>
                <a:latin typeface="Arial"/>
              </a:rPr>
              <a:t> / SSH.</a:t>
            </a:r>
          </a:p>
          <a:p>
            <a:pPr algn="r" rtl="1">
              <a:spcAft>
                <a:spcPts val="900"/>
              </a:spcAft>
            </a:pPr>
            <a:r>
              <a:rPr sz="1500" dirty="0">
                <a:solidFill>
                  <a:srgbClr val="F3CBC6"/>
                </a:solidFill>
                <a:latin typeface="Arial"/>
              </a:rPr>
              <a:t>•  </a:t>
            </a:r>
            <a:r>
              <a:rPr sz="1500" dirty="0" err="1">
                <a:solidFill>
                  <a:srgbClr val="F3CBC6"/>
                </a:solidFill>
                <a:latin typeface="Arial"/>
              </a:rPr>
              <a:t>NetworkManager</a:t>
            </a:r>
            <a:r>
              <a:rPr sz="1500" dirty="0">
                <a:solidFill>
                  <a:srgbClr val="F3CBC6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F3CBC6"/>
                </a:solidFill>
                <a:latin typeface="Arial"/>
              </a:rPr>
              <a:t>היה</a:t>
            </a:r>
            <a:r>
              <a:rPr sz="1500" dirty="0">
                <a:solidFill>
                  <a:srgbClr val="F3CBC6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F3CBC6"/>
                </a:solidFill>
                <a:latin typeface="Arial"/>
              </a:rPr>
              <a:t>דורס</a:t>
            </a:r>
            <a:r>
              <a:rPr sz="1500" dirty="0">
                <a:solidFill>
                  <a:srgbClr val="F3CBC6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F3CBC6"/>
                </a:solidFill>
                <a:latin typeface="Arial"/>
              </a:rPr>
              <a:t>את</a:t>
            </a:r>
            <a:r>
              <a:rPr sz="1500" dirty="0">
                <a:solidFill>
                  <a:srgbClr val="F3CBC6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F3CBC6"/>
                </a:solidFill>
                <a:latin typeface="Arial"/>
              </a:rPr>
              <a:t>resolv.conf</a:t>
            </a:r>
            <a:r>
              <a:rPr sz="1500" dirty="0">
                <a:solidFill>
                  <a:srgbClr val="F3CBC6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F3CBC6"/>
                </a:solidFill>
                <a:latin typeface="Arial"/>
              </a:rPr>
              <a:t>שהוגדר</a:t>
            </a:r>
            <a:r>
              <a:rPr sz="1500" dirty="0">
                <a:solidFill>
                  <a:srgbClr val="F3CBC6"/>
                </a:solidFill>
                <a:latin typeface="Arial"/>
              </a:rPr>
              <a:t>.</a:t>
            </a:r>
          </a:p>
          <a:p>
            <a:pPr algn="r" rtl="1">
              <a:spcAft>
                <a:spcPts val="900"/>
              </a:spcAft>
            </a:pPr>
            <a:r>
              <a:rPr sz="1500" dirty="0">
                <a:solidFill>
                  <a:srgbClr val="F3CBC6"/>
                </a:solidFill>
                <a:latin typeface="Arial"/>
              </a:rPr>
              <a:t>•  </a:t>
            </a:r>
            <a:r>
              <a:rPr sz="1500" dirty="0" err="1">
                <a:solidFill>
                  <a:srgbClr val="F3CBC6"/>
                </a:solidFill>
                <a:latin typeface="Arial"/>
              </a:rPr>
              <a:t>אין</a:t>
            </a:r>
            <a:r>
              <a:rPr sz="1500" dirty="0">
                <a:solidFill>
                  <a:srgbClr val="F3CBC6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F3CBC6"/>
                </a:solidFill>
                <a:latin typeface="Arial"/>
              </a:rPr>
              <a:t>אחידות</a:t>
            </a:r>
            <a:r>
              <a:rPr sz="1500" dirty="0">
                <a:solidFill>
                  <a:srgbClr val="F3CBC6"/>
                </a:solidFill>
                <a:latin typeface="Arial"/>
              </a:rPr>
              <a:t>, </a:t>
            </a:r>
            <a:r>
              <a:rPr sz="1500" dirty="0" err="1">
                <a:solidFill>
                  <a:srgbClr val="F3CBC6"/>
                </a:solidFill>
                <a:latin typeface="Arial"/>
              </a:rPr>
              <a:t>קל</a:t>
            </a:r>
            <a:r>
              <a:rPr sz="1500" dirty="0">
                <a:solidFill>
                  <a:srgbClr val="F3CBC6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F3CBC6"/>
                </a:solidFill>
                <a:latin typeface="Arial"/>
              </a:rPr>
              <a:t>לטעות</a:t>
            </a:r>
            <a:r>
              <a:rPr sz="1500" dirty="0">
                <a:solidFill>
                  <a:srgbClr val="F3CBC6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F3CBC6"/>
                </a:solidFill>
                <a:latin typeface="Arial"/>
              </a:rPr>
              <a:t>בהקלדה</a:t>
            </a:r>
            <a:r>
              <a:rPr sz="1500" dirty="0">
                <a:solidFill>
                  <a:srgbClr val="F3CBC6"/>
                </a:solidFill>
                <a:latin typeface="Arial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91640"/>
            <a:ext cx="5394960" cy="3246120"/>
          </a:xfrm>
          <a:prstGeom prst="roundRect">
            <a:avLst/>
          </a:prstGeom>
          <a:solidFill>
            <a:srgbClr val="122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48640" y="1691640"/>
            <a:ext cx="5394960" cy="530352"/>
          </a:xfrm>
          <a:prstGeom prst="roundRect">
            <a:avLst/>
          </a:prstGeom>
          <a:solidFill>
            <a:srgbClr val="3FC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721640"/>
            <a:ext cx="5394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1600" b="1" dirty="0" err="1">
                <a:solidFill>
                  <a:srgbClr val="04210F"/>
                </a:solidFill>
                <a:latin typeface="Arial"/>
              </a:rPr>
              <a:t>אחרי</a:t>
            </a:r>
            <a:r>
              <a:rPr sz="1600" b="1" dirty="0">
                <a:solidFill>
                  <a:srgbClr val="04210F"/>
                </a:solidFill>
                <a:latin typeface="Arial"/>
              </a:rPr>
              <a:t> — אוטומציה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8640" y="2411640"/>
            <a:ext cx="51149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900"/>
              </a:spcAft>
            </a:pPr>
            <a:r>
              <a:rPr sz="1500">
                <a:solidFill>
                  <a:srgbClr val="C7F0D8"/>
                </a:solidFill>
                <a:latin typeface="Arial"/>
              </a:rPr>
              <a:t>•  כלים שמשנים הרבה שרתים יחד לפי רשימות מקבילות.</a:t>
            </a:r>
          </a:p>
          <a:p>
            <a:pPr algn="r" rtl="1">
              <a:spcAft>
                <a:spcPts val="900"/>
              </a:spcAft>
            </a:pPr>
            <a:r>
              <a:rPr sz="1500">
                <a:solidFill>
                  <a:srgbClr val="C7F0D8"/>
                </a:solidFill>
                <a:latin typeface="Arial"/>
              </a:rPr>
              <a:t>•  set/get iDRAC hostname, esxi_host_config.</a:t>
            </a:r>
          </a:p>
          <a:p>
            <a:pPr algn="r" rtl="1">
              <a:spcAft>
                <a:spcPts val="900"/>
              </a:spcAft>
            </a:pPr>
            <a:r>
              <a:rPr sz="1500">
                <a:solidFill>
                  <a:srgbClr val="C7F0D8"/>
                </a:solidFill>
                <a:latin typeface="Arial"/>
              </a:rPr>
              <a:t>•  Configure_NTP+DNS: מונע דריסה (dns=none) + כתיבה מלאה.</a:t>
            </a:r>
          </a:p>
          <a:p>
            <a:pPr algn="r" rtl="1">
              <a:spcAft>
                <a:spcPts val="900"/>
              </a:spcAft>
            </a:pPr>
            <a:r>
              <a:rPr sz="1500">
                <a:solidFill>
                  <a:srgbClr val="C7F0D8"/>
                </a:solidFill>
                <a:latin typeface="Arial"/>
              </a:rPr>
              <a:t>•  Change_ip — סקריפט חדש: שינוי כתובת iDRAC במקביל, עם אימות.</a:t>
            </a:r>
          </a:p>
          <a:p>
            <a:pPr algn="r" rtl="1">
              <a:spcAft>
                <a:spcPts val="900"/>
              </a:spcAft>
            </a:pPr>
            <a:r>
              <a:rPr sz="1500">
                <a:solidFill>
                  <a:srgbClr val="C7F0D8"/>
                </a:solidFill>
                <a:latin typeface="Arial"/>
              </a:rPr>
              <a:t>•  תמיכת Range בכל שדות הכתובות.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175504"/>
            <a:ext cx="11091672" cy="960120"/>
          </a:xfrm>
          <a:prstGeom prst="roundRect">
            <a:avLst/>
          </a:prstGeom>
          <a:solidFill>
            <a:srgbClr val="1E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1420856" y="5175504"/>
            <a:ext cx="128016" cy="960120"/>
          </a:xfrm>
          <a:prstGeom prst="roundRect">
            <a:avLst/>
          </a:prstGeom>
          <a:solidFill>
            <a:srgbClr val="F27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5265504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27A1D"/>
                </a:solidFill>
                <a:latin typeface="Arial"/>
              </a:rPr>
              <a:t>⏱  חיסכון זמן ל-10 שרתים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665504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ידני: כ-1.5 שעות  ·  אוטומטי: כ-10 דק' — במקביל  ·  חיסכון: כ-80 דק' עבודה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2743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ADBDD0"/>
                </a:solidFill>
                <a:latin typeface="Arial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6446520"/>
            <a:ext cx="27706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ADBDD0"/>
                </a:solidFill>
                <a:latin typeface="Arial"/>
              </a:rPr>
              <a:t>PS Automation  •  HIPER Global</a:t>
            </a: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F61F435A-4BC1-4C0D-9C2F-85FEC3741943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11F"/>
          </a:solidFill>
          <a:ln w="12700">
            <a:solidFill>
              <a:srgbClr val="09111F"/>
            </a:solidFill>
            <a:prstDash val="solid"/>
          </a:ln>
        </p:spPr>
      </p:sp>
      <p:sp>
        <p:nvSpPr>
          <p:cNvPr id="20" name="Shape 1">
            <a:extLst>
              <a:ext uri="{FF2B5EF4-FFF2-40B4-BE49-F238E27FC236}">
                <a16:creationId xmlns:a16="http://schemas.microsoft.com/office/drawing/2014/main" id="{58E7CCD6-7158-4898-82CC-55C23AA1996D}"/>
              </a:ext>
            </a:extLst>
          </p:cNvPr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27A24"/>
          </a:solidFill>
          <a:ln w="12700">
            <a:solidFill>
              <a:srgbClr val="F27A24"/>
            </a:solidFill>
            <a:prstDash val="solid"/>
          </a:ln>
        </p:spPr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EBC7B083-F640-4DD4-B7BB-D549AC9293A7}"/>
              </a:ext>
            </a:extLst>
          </p:cNvPr>
          <p:cNvSpPr/>
          <p:nvPr/>
        </p:nvSpPr>
        <p:spPr>
          <a:xfrm>
            <a:off x="502920" y="292608"/>
            <a:ext cx="112014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1" anchor="ctr">
            <a:normAutofit/>
          </a:bodyPr>
          <a:lstStyle/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lang="he-IL" sz="1500" b="1" dirty="0">
                <a:solidFill>
                  <a:srgbClr val="F27A1D"/>
                </a:solidFill>
                <a:latin typeface="Arial"/>
              </a:rPr>
              <a:t>קטגוריה · קונפיגורציה </a:t>
            </a:r>
            <a:r>
              <a:rPr lang="en-US" sz="1500" b="1" dirty="0">
                <a:solidFill>
                  <a:srgbClr val="F27A1D"/>
                </a:solidFill>
                <a:latin typeface="Arial"/>
              </a:rPr>
              <a:t>(Configuration)</a:t>
            </a:r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A8E9D4F5-9A62-46D7-8D52-962D0036EB5E}"/>
              </a:ext>
            </a:extLst>
          </p:cNvPr>
          <p:cNvSpPr/>
          <p:nvPr/>
        </p:nvSpPr>
        <p:spPr>
          <a:xfrm>
            <a:off x="502920" y="749808"/>
            <a:ext cx="112014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1" anchor="ctr">
            <a:normAutofit/>
          </a:bodyPr>
          <a:lstStyle/>
          <a:p>
            <a:pPr marL="0" indent="0" algn="r" rtl="1">
              <a:buNone/>
            </a:pPr>
            <a:r>
              <a:rPr lang="he-IL" altLang="en-US" sz="1200" dirty="0">
                <a:solidFill>
                  <a:srgbClr val="B7C2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IP  •  Change Hostname  •  esxi_host_config</a:t>
            </a:r>
            <a:endParaRPr lang="en-US" sz="1200" dirty="0"/>
          </a:p>
        </p:txBody>
      </p:sp>
      <p:sp>
        <p:nvSpPr>
          <p:cNvPr id="23" name="Shape 4">
            <a:extLst>
              <a:ext uri="{FF2B5EF4-FFF2-40B4-BE49-F238E27FC236}">
                <a16:creationId xmlns:a16="http://schemas.microsoft.com/office/drawing/2014/main" id="{6A05A6AF-2892-455B-953A-0D5B47910CB3}"/>
              </a:ext>
            </a:extLst>
          </p:cNvPr>
          <p:cNvSpPr/>
          <p:nvPr/>
        </p:nvSpPr>
        <p:spPr>
          <a:xfrm>
            <a:off x="475488" y="1143000"/>
            <a:ext cx="4069080" cy="438912"/>
          </a:xfrm>
          <a:prstGeom prst="roundRect">
            <a:avLst>
              <a:gd name="adj" fmla="val 12500"/>
            </a:avLst>
          </a:prstGeom>
          <a:solidFill>
            <a:srgbClr val="27395E"/>
          </a:solidFill>
          <a:ln w="12700">
            <a:solidFill>
              <a:srgbClr val="44536E">
                <a:alpha val="90000"/>
              </a:srgbClr>
            </a:solidFill>
            <a:prstDash val="solid"/>
          </a:ln>
        </p:spPr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1EDC2954-901A-4679-9BA5-EE482C10E07F}"/>
              </a:ext>
            </a:extLst>
          </p:cNvPr>
          <p:cNvSpPr/>
          <p:nvPr/>
        </p:nvSpPr>
        <p:spPr>
          <a:xfrm>
            <a:off x="585216" y="1234440"/>
            <a:ext cx="384962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1" anchor="ctr">
            <a:normAutofit/>
          </a:bodyPr>
          <a:lstStyle/>
          <a:p>
            <a:pPr marL="0" indent="0" algn="r" rtl="1">
              <a:buNone/>
            </a:pPr>
            <a:r>
              <a:rPr lang="he-IL" alt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באמצעות אוטומציה</a:t>
            </a:r>
            <a:endParaRPr lang="en-US" sz="1500" dirty="0"/>
          </a:p>
        </p:txBody>
      </p:sp>
      <p:sp>
        <p:nvSpPr>
          <p:cNvPr id="25" name="Shape 6">
            <a:extLst>
              <a:ext uri="{FF2B5EF4-FFF2-40B4-BE49-F238E27FC236}">
                <a16:creationId xmlns:a16="http://schemas.microsoft.com/office/drawing/2014/main" id="{CCC61F11-36D4-4807-BC9E-117819800830}"/>
              </a:ext>
            </a:extLst>
          </p:cNvPr>
          <p:cNvSpPr/>
          <p:nvPr/>
        </p:nvSpPr>
        <p:spPr>
          <a:xfrm>
            <a:off x="4608576" y="1143000"/>
            <a:ext cx="4069080" cy="438912"/>
          </a:xfrm>
          <a:prstGeom prst="roundRect">
            <a:avLst>
              <a:gd name="adj" fmla="val 12500"/>
            </a:avLst>
          </a:prstGeom>
          <a:solidFill>
            <a:srgbClr val="27395E"/>
          </a:solidFill>
          <a:ln w="12700">
            <a:solidFill>
              <a:srgbClr val="44536E">
                <a:alpha val="90000"/>
              </a:srgbClr>
            </a:solidFill>
            <a:prstDash val="solid"/>
          </a:ln>
        </p:spPr>
      </p:sp>
      <p:sp>
        <p:nvSpPr>
          <p:cNvPr id="26" name="Text 7">
            <a:extLst>
              <a:ext uri="{FF2B5EF4-FFF2-40B4-BE49-F238E27FC236}">
                <a16:creationId xmlns:a16="http://schemas.microsoft.com/office/drawing/2014/main" id="{39557327-82AE-4BBB-B1ED-FC831C8E7232}"/>
              </a:ext>
            </a:extLst>
          </p:cNvPr>
          <p:cNvSpPr/>
          <p:nvPr/>
        </p:nvSpPr>
        <p:spPr>
          <a:xfrm>
            <a:off x="4718304" y="1234440"/>
            <a:ext cx="384962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1" anchor="ctr">
            <a:normAutofit/>
          </a:bodyPr>
          <a:lstStyle/>
          <a:p>
            <a:pPr marL="0" indent="0" algn="r" rtl="1">
              <a:buNone/>
            </a:pPr>
            <a:r>
              <a:rPr lang="he-IL" sz="15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ידנית</a:t>
            </a:r>
            <a:endParaRPr lang="en-US" sz="1500" dirty="0"/>
          </a:p>
        </p:txBody>
      </p:sp>
      <p:sp>
        <p:nvSpPr>
          <p:cNvPr id="27" name="Shape 8">
            <a:extLst>
              <a:ext uri="{FF2B5EF4-FFF2-40B4-BE49-F238E27FC236}">
                <a16:creationId xmlns:a16="http://schemas.microsoft.com/office/drawing/2014/main" id="{D27E1348-614C-48E2-8792-A43A0E305A57}"/>
              </a:ext>
            </a:extLst>
          </p:cNvPr>
          <p:cNvSpPr/>
          <p:nvPr/>
        </p:nvSpPr>
        <p:spPr>
          <a:xfrm>
            <a:off x="8741664" y="1143000"/>
            <a:ext cx="2953512" cy="438912"/>
          </a:xfrm>
          <a:prstGeom prst="roundRect">
            <a:avLst>
              <a:gd name="adj" fmla="val 12500"/>
            </a:avLst>
          </a:prstGeom>
          <a:solidFill>
            <a:srgbClr val="27395E"/>
          </a:solidFill>
          <a:ln w="12700">
            <a:solidFill>
              <a:srgbClr val="44536E">
                <a:alpha val="90000"/>
              </a:srgbClr>
            </a:solidFill>
            <a:prstDash val="solid"/>
          </a:ln>
        </p:spPr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A4C0F00D-EBE3-4CE6-AD44-7AEE01822FCA}"/>
              </a:ext>
            </a:extLst>
          </p:cNvPr>
          <p:cNvSpPr/>
          <p:nvPr/>
        </p:nvSpPr>
        <p:spPr>
          <a:xfrm>
            <a:off x="8851392" y="1234440"/>
            <a:ext cx="27340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1" anchor="ctr">
            <a:normAutofit/>
          </a:bodyPr>
          <a:lstStyle/>
          <a:p>
            <a:pPr marL="0" indent="0" algn="r" rtl="1">
              <a:buNone/>
            </a:pPr>
            <a:r>
              <a:rPr lang="he-IL" alt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אוטומציה</a:t>
            </a:r>
            <a:endParaRPr lang="en-US" sz="1500" dirty="0"/>
          </a:p>
        </p:txBody>
      </p:sp>
      <p:sp>
        <p:nvSpPr>
          <p:cNvPr id="29" name="Shape 10">
            <a:extLst>
              <a:ext uri="{FF2B5EF4-FFF2-40B4-BE49-F238E27FC236}">
                <a16:creationId xmlns:a16="http://schemas.microsoft.com/office/drawing/2014/main" id="{4A70F143-F434-47FB-84BE-50D26A82B1B5}"/>
              </a:ext>
            </a:extLst>
          </p:cNvPr>
          <p:cNvSpPr/>
          <p:nvPr/>
        </p:nvSpPr>
        <p:spPr>
          <a:xfrm>
            <a:off x="475488" y="1700784"/>
            <a:ext cx="4069080" cy="1426464"/>
          </a:xfrm>
          <a:prstGeom prst="roundRect">
            <a:avLst>
              <a:gd name="adj" fmla="val 3846"/>
            </a:avLst>
          </a:prstGeom>
          <a:solidFill>
            <a:srgbClr val="141B2E"/>
          </a:solidFill>
          <a:ln w="12700">
            <a:solidFill>
              <a:srgbClr val="44536E">
                <a:alpha val="90000"/>
              </a:srgbClr>
            </a:solidFill>
            <a:prstDash val="solid"/>
          </a:ln>
        </p:spPr>
      </p:sp>
      <p:sp>
        <p:nvSpPr>
          <p:cNvPr id="30" name="Text 11">
            <a:extLst>
              <a:ext uri="{FF2B5EF4-FFF2-40B4-BE49-F238E27FC236}">
                <a16:creationId xmlns:a16="http://schemas.microsoft.com/office/drawing/2014/main" id="{46420FC3-CFBB-47C0-9DD2-903BC18821FE}"/>
              </a:ext>
            </a:extLst>
          </p:cNvPr>
          <p:cNvSpPr/>
          <p:nvPr/>
        </p:nvSpPr>
        <p:spPr>
          <a:xfrm>
            <a:off x="4233672" y="1947672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he-IL" alt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350" dirty="0"/>
          </a:p>
        </p:txBody>
      </p:sp>
      <p:sp>
        <p:nvSpPr>
          <p:cNvPr id="31" name="Text 12">
            <a:extLst>
              <a:ext uri="{FF2B5EF4-FFF2-40B4-BE49-F238E27FC236}">
                <a16:creationId xmlns:a16="http://schemas.microsoft.com/office/drawing/2014/main" id="{4DA019F5-E6F7-44AD-B456-1FC2A4800BAD}"/>
              </a:ext>
            </a:extLst>
          </p:cNvPr>
          <p:cNvSpPr/>
          <p:nvPr/>
        </p:nvSpPr>
        <p:spPr>
          <a:xfrm>
            <a:off x="640080" y="1929384"/>
            <a:ext cx="3538728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1" anchor="t">
            <a:normAutofit/>
          </a:bodyPr>
          <a:lstStyle/>
          <a:p>
            <a:pPr marL="0" indent="0" algn="r" rtl="1">
              <a:buNone/>
            </a:pPr>
            <a:r>
              <a:rPr lang="he-IL" altLang="en-US" sz="1270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שינוי כתובות לכל השרתים במקביל בשניות.</a:t>
            </a:r>
            <a:endParaRPr lang="en-US" sz="1270" dirty="0"/>
          </a:p>
        </p:txBody>
      </p:sp>
      <p:sp>
        <p:nvSpPr>
          <p:cNvPr id="32" name="Text 13">
            <a:extLst>
              <a:ext uri="{FF2B5EF4-FFF2-40B4-BE49-F238E27FC236}">
                <a16:creationId xmlns:a16="http://schemas.microsoft.com/office/drawing/2014/main" id="{8C28E665-4531-43BA-A280-7A8AAF3EAEA7}"/>
              </a:ext>
            </a:extLst>
          </p:cNvPr>
          <p:cNvSpPr/>
          <p:nvPr/>
        </p:nvSpPr>
        <p:spPr>
          <a:xfrm>
            <a:off x="4233672" y="2514600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he-IL" alt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350" dirty="0"/>
          </a:p>
        </p:txBody>
      </p:sp>
      <p:sp>
        <p:nvSpPr>
          <p:cNvPr id="33" name="Text 14">
            <a:extLst>
              <a:ext uri="{FF2B5EF4-FFF2-40B4-BE49-F238E27FC236}">
                <a16:creationId xmlns:a16="http://schemas.microsoft.com/office/drawing/2014/main" id="{77EBA2ED-2B02-4011-8060-4E6832D61EB3}"/>
              </a:ext>
            </a:extLst>
          </p:cNvPr>
          <p:cNvSpPr/>
          <p:nvPr/>
        </p:nvSpPr>
        <p:spPr>
          <a:xfrm>
            <a:off x="640080" y="2496312"/>
            <a:ext cx="3538728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1" anchor="t">
            <a:normAutofit fontScale="70000" lnSpcReduction="20000"/>
          </a:bodyPr>
          <a:lstStyle/>
          <a:p>
            <a:pPr marL="0" indent="0" algn="r" rtl="1">
              <a:buNone/>
            </a:pPr>
            <a:r>
              <a:rPr lang="he-IL" altLang="en-US" sz="1270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קביעת Netmask ו־Gateway אחידים ואימות הצלחה לפי זמינות ה־IP החדש.</a:t>
            </a:r>
            <a:br>
              <a:rPr lang="en-US" altLang="en-US" sz="1270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br>
              <a:rPr lang="en-US" altLang="en-US" sz="1270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he-IL" altLang="en-US" sz="1270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זמן שנלקח פר כלל השרתים – מספר שניות</a:t>
            </a:r>
            <a:endParaRPr lang="en-US" sz="1270" dirty="0"/>
          </a:p>
        </p:txBody>
      </p:sp>
      <p:sp>
        <p:nvSpPr>
          <p:cNvPr id="34" name="Shape 15">
            <a:extLst>
              <a:ext uri="{FF2B5EF4-FFF2-40B4-BE49-F238E27FC236}">
                <a16:creationId xmlns:a16="http://schemas.microsoft.com/office/drawing/2014/main" id="{B2E5FFBC-6F8D-4051-8783-83DAAD489EBE}"/>
              </a:ext>
            </a:extLst>
          </p:cNvPr>
          <p:cNvSpPr/>
          <p:nvPr/>
        </p:nvSpPr>
        <p:spPr>
          <a:xfrm>
            <a:off x="4608576" y="1700784"/>
            <a:ext cx="4069080" cy="1426464"/>
          </a:xfrm>
          <a:prstGeom prst="roundRect">
            <a:avLst>
              <a:gd name="adj" fmla="val 3846"/>
            </a:avLst>
          </a:prstGeom>
          <a:solidFill>
            <a:srgbClr val="141B2E"/>
          </a:solidFill>
          <a:ln w="12700">
            <a:solidFill>
              <a:srgbClr val="44536E">
                <a:alpha val="90000"/>
              </a:srgbClr>
            </a:solidFill>
            <a:prstDash val="solid"/>
          </a:ln>
        </p:spPr>
      </p:sp>
      <p:sp>
        <p:nvSpPr>
          <p:cNvPr id="35" name="Text 16">
            <a:extLst>
              <a:ext uri="{FF2B5EF4-FFF2-40B4-BE49-F238E27FC236}">
                <a16:creationId xmlns:a16="http://schemas.microsoft.com/office/drawing/2014/main" id="{5498E3FC-685A-418D-AE28-3D6879A79E60}"/>
              </a:ext>
            </a:extLst>
          </p:cNvPr>
          <p:cNvSpPr/>
          <p:nvPr/>
        </p:nvSpPr>
        <p:spPr>
          <a:xfrm>
            <a:off x="8366760" y="1947672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he-IL" alt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350" dirty="0"/>
          </a:p>
        </p:txBody>
      </p:sp>
      <p:sp>
        <p:nvSpPr>
          <p:cNvPr id="36" name="Text 17">
            <a:extLst>
              <a:ext uri="{FF2B5EF4-FFF2-40B4-BE49-F238E27FC236}">
                <a16:creationId xmlns:a16="http://schemas.microsoft.com/office/drawing/2014/main" id="{6C3274F3-BB75-4ED1-BCF2-98B067624140}"/>
              </a:ext>
            </a:extLst>
          </p:cNvPr>
          <p:cNvSpPr/>
          <p:nvPr/>
        </p:nvSpPr>
        <p:spPr>
          <a:xfrm>
            <a:off x="4773168" y="1929384"/>
            <a:ext cx="3538728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1" anchor="t">
            <a:normAutofit/>
          </a:bodyPr>
          <a:lstStyle/>
          <a:p>
            <a:pPr marL="0" indent="0" algn="r" rtl="1">
              <a:buNone/>
            </a:pPr>
            <a:r>
              <a:rPr lang="he-IL" altLang="en-US" sz="1270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התחברות ידנית לכל iDRAC בנפרד והזנת</a:t>
            </a:r>
            <a:br>
              <a:rPr lang="en-US" altLang="en-US" sz="1270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he-IL" altLang="en-US" sz="1270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IP / Netmask / Gateway בכל שרת ושרת ידנית.</a:t>
            </a:r>
            <a:endParaRPr lang="en-US" sz="1270" dirty="0"/>
          </a:p>
        </p:txBody>
      </p:sp>
      <p:sp>
        <p:nvSpPr>
          <p:cNvPr id="37" name="Text 18">
            <a:extLst>
              <a:ext uri="{FF2B5EF4-FFF2-40B4-BE49-F238E27FC236}">
                <a16:creationId xmlns:a16="http://schemas.microsoft.com/office/drawing/2014/main" id="{F13BCDCA-779F-4A1F-ACC2-367C145AF735}"/>
              </a:ext>
            </a:extLst>
          </p:cNvPr>
          <p:cNvSpPr/>
          <p:nvPr/>
        </p:nvSpPr>
        <p:spPr>
          <a:xfrm>
            <a:off x="8366760" y="2514600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he-IL" alt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350" dirty="0"/>
          </a:p>
        </p:txBody>
      </p:sp>
      <p:sp>
        <p:nvSpPr>
          <p:cNvPr id="38" name="Text 19">
            <a:extLst>
              <a:ext uri="{FF2B5EF4-FFF2-40B4-BE49-F238E27FC236}">
                <a16:creationId xmlns:a16="http://schemas.microsoft.com/office/drawing/2014/main" id="{181BE0DE-4143-4CE4-97A1-13275C2D1012}"/>
              </a:ext>
            </a:extLst>
          </p:cNvPr>
          <p:cNvSpPr/>
          <p:nvPr/>
        </p:nvSpPr>
        <p:spPr>
          <a:xfrm>
            <a:off x="4773168" y="2496312"/>
            <a:ext cx="3538728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1" anchor="t">
            <a:normAutofit fontScale="85000" lnSpcReduction="20000"/>
          </a:bodyPr>
          <a:lstStyle/>
          <a:p>
            <a:pPr marL="0" indent="0" algn="r" rtl="1">
              <a:buNone/>
            </a:pPr>
            <a:r>
              <a:rPr lang="he-IL" altLang="en-US" sz="1270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בדיקה ידנית לאחר שהחיבור לכתובת הישנה מתנתק.</a:t>
            </a:r>
          </a:p>
          <a:p>
            <a:pPr marL="0" indent="0" algn="r" rtl="1">
              <a:buNone/>
            </a:pPr>
            <a:endParaRPr lang="he-IL" sz="1270" dirty="0">
              <a:solidFill>
                <a:srgbClr val="E9EEF7"/>
              </a:solidFill>
              <a:latin typeface="Arial" pitchFamily="34" charset="0"/>
              <a:cs typeface="Arial" pitchFamily="34" charset="-120"/>
            </a:endParaRPr>
          </a:p>
          <a:p>
            <a:pPr marL="0" indent="0" algn="r" rtl="1">
              <a:buNone/>
            </a:pPr>
            <a:r>
              <a:rPr lang="he-IL" sz="1270" dirty="0">
                <a:solidFill>
                  <a:srgbClr val="E9EEF7"/>
                </a:solidFill>
                <a:latin typeface="Arial" pitchFamily="34" charset="0"/>
                <a:cs typeface="Arial" pitchFamily="34" charset="-120"/>
              </a:rPr>
              <a:t>זמן שנלקח פר שרת אחד = 3 דקות</a:t>
            </a:r>
            <a:endParaRPr lang="en-US" sz="1270" dirty="0"/>
          </a:p>
        </p:txBody>
      </p:sp>
      <p:sp>
        <p:nvSpPr>
          <p:cNvPr id="39" name="Shape 20">
            <a:extLst>
              <a:ext uri="{FF2B5EF4-FFF2-40B4-BE49-F238E27FC236}">
                <a16:creationId xmlns:a16="http://schemas.microsoft.com/office/drawing/2014/main" id="{56E11621-79AF-4F67-A2D2-AB13DB614930}"/>
              </a:ext>
            </a:extLst>
          </p:cNvPr>
          <p:cNvSpPr/>
          <p:nvPr/>
        </p:nvSpPr>
        <p:spPr>
          <a:xfrm>
            <a:off x="8741664" y="1700784"/>
            <a:ext cx="2953512" cy="1426464"/>
          </a:xfrm>
          <a:prstGeom prst="roundRect">
            <a:avLst>
              <a:gd name="adj" fmla="val 3846"/>
            </a:avLst>
          </a:prstGeom>
          <a:solidFill>
            <a:srgbClr val="141B2E"/>
          </a:solidFill>
          <a:ln w="12700">
            <a:solidFill>
              <a:srgbClr val="44536E">
                <a:alpha val="90000"/>
              </a:srgbClr>
            </a:solidFill>
            <a:prstDash val="solid"/>
          </a:ln>
        </p:spPr>
      </p:sp>
      <p:sp>
        <p:nvSpPr>
          <p:cNvPr id="40" name="Text 21">
            <a:extLst>
              <a:ext uri="{FF2B5EF4-FFF2-40B4-BE49-F238E27FC236}">
                <a16:creationId xmlns:a16="http://schemas.microsoft.com/office/drawing/2014/main" id="{53541575-AA00-4682-AFF3-B9E372B4F021}"/>
              </a:ext>
            </a:extLst>
          </p:cNvPr>
          <p:cNvSpPr/>
          <p:nvPr/>
        </p:nvSpPr>
        <p:spPr>
          <a:xfrm>
            <a:off x="8869680" y="2029968"/>
            <a:ext cx="26974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1" anchor="ctr">
            <a:normAutofit/>
          </a:bodyPr>
          <a:lstStyle/>
          <a:p>
            <a:pPr marL="0" indent="0" algn="r" rtl="1">
              <a:buNone/>
            </a:pPr>
            <a:r>
              <a:rPr lang="he-IL" alt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IP</a:t>
            </a:r>
            <a:endParaRPr lang="en-US" sz="1550" dirty="0"/>
          </a:p>
        </p:txBody>
      </p:sp>
      <p:sp>
        <p:nvSpPr>
          <p:cNvPr id="41" name="Text 22">
            <a:extLst>
              <a:ext uri="{FF2B5EF4-FFF2-40B4-BE49-F238E27FC236}">
                <a16:creationId xmlns:a16="http://schemas.microsoft.com/office/drawing/2014/main" id="{54A9364A-D6A8-4449-8576-8A44A6A3E597}"/>
              </a:ext>
            </a:extLst>
          </p:cNvPr>
          <p:cNvSpPr/>
          <p:nvPr/>
        </p:nvSpPr>
        <p:spPr>
          <a:xfrm>
            <a:off x="8869680" y="2414016"/>
            <a:ext cx="26974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1" anchor="ctr">
            <a:normAutofit/>
          </a:bodyPr>
          <a:lstStyle/>
          <a:p>
            <a:pPr marL="0" indent="0" algn="r" rtl="1">
              <a:buNone/>
            </a:pPr>
            <a:r>
              <a:rPr lang="he-IL" altLang="en-US" sz="1280" dirty="0">
                <a:solidFill>
                  <a:srgbClr val="FFC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שינוי כתובת iDRAC</a:t>
            </a:r>
            <a:endParaRPr lang="en-US" sz="1280" dirty="0"/>
          </a:p>
        </p:txBody>
      </p:sp>
      <p:sp>
        <p:nvSpPr>
          <p:cNvPr id="42" name="Shape 23">
            <a:extLst>
              <a:ext uri="{FF2B5EF4-FFF2-40B4-BE49-F238E27FC236}">
                <a16:creationId xmlns:a16="http://schemas.microsoft.com/office/drawing/2014/main" id="{86759C6F-1117-415C-B62A-AF6A08CCF89A}"/>
              </a:ext>
            </a:extLst>
          </p:cNvPr>
          <p:cNvSpPr/>
          <p:nvPr/>
        </p:nvSpPr>
        <p:spPr>
          <a:xfrm>
            <a:off x="475488" y="3246120"/>
            <a:ext cx="4069080" cy="1426464"/>
          </a:xfrm>
          <a:prstGeom prst="roundRect">
            <a:avLst>
              <a:gd name="adj" fmla="val 3846"/>
            </a:avLst>
          </a:prstGeom>
          <a:solidFill>
            <a:srgbClr val="16213A"/>
          </a:solidFill>
          <a:ln w="12700">
            <a:solidFill>
              <a:srgbClr val="44536E">
                <a:alpha val="90000"/>
              </a:srgbClr>
            </a:solidFill>
            <a:prstDash val="solid"/>
          </a:ln>
        </p:spPr>
      </p:sp>
      <p:sp>
        <p:nvSpPr>
          <p:cNvPr id="43" name="Text 24">
            <a:extLst>
              <a:ext uri="{FF2B5EF4-FFF2-40B4-BE49-F238E27FC236}">
                <a16:creationId xmlns:a16="http://schemas.microsoft.com/office/drawing/2014/main" id="{F6C00B1E-D8CB-4C41-B768-A829A7F6A6F0}"/>
              </a:ext>
            </a:extLst>
          </p:cNvPr>
          <p:cNvSpPr/>
          <p:nvPr/>
        </p:nvSpPr>
        <p:spPr>
          <a:xfrm>
            <a:off x="4233672" y="3493008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he-IL" alt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350" dirty="0"/>
          </a:p>
        </p:txBody>
      </p:sp>
      <p:sp>
        <p:nvSpPr>
          <p:cNvPr id="44" name="Text 25">
            <a:extLst>
              <a:ext uri="{FF2B5EF4-FFF2-40B4-BE49-F238E27FC236}">
                <a16:creationId xmlns:a16="http://schemas.microsoft.com/office/drawing/2014/main" id="{0B0DE658-28F3-4161-8CB0-11059E0B2745}"/>
              </a:ext>
            </a:extLst>
          </p:cNvPr>
          <p:cNvSpPr/>
          <p:nvPr/>
        </p:nvSpPr>
        <p:spPr>
          <a:xfrm>
            <a:off x="640080" y="3474720"/>
            <a:ext cx="3538728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1" anchor="t">
            <a:normAutofit/>
          </a:bodyPr>
          <a:lstStyle/>
          <a:p>
            <a:pPr marL="0" indent="0" algn="r" rtl="1">
              <a:buNone/>
            </a:pPr>
            <a:r>
              <a:rPr lang="he-IL" altLang="en-US" sz="1270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שינוי </a:t>
            </a:r>
            <a:r>
              <a:rPr lang="en-US" altLang="en-US" sz="1270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Hostname</a:t>
            </a:r>
            <a:r>
              <a:rPr lang="he-IL" altLang="en-US" sz="1270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לכלל השרתים במקביל בשניות</a:t>
            </a:r>
            <a:endParaRPr lang="en-US" sz="1270" dirty="0"/>
          </a:p>
        </p:txBody>
      </p:sp>
      <p:sp>
        <p:nvSpPr>
          <p:cNvPr id="45" name="Text 26">
            <a:extLst>
              <a:ext uri="{FF2B5EF4-FFF2-40B4-BE49-F238E27FC236}">
                <a16:creationId xmlns:a16="http://schemas.microsoft.com/office/drawing/2014/main" id="{FC4088D1-2AC1-4717-9796-BDFD8EA205B0}"/>
              </a:ext>
            </a:extLst>
          </p:cNvPr>
          <p:cNvSpPr/>
          <p:nvPr/>
        </p:nvSpPr>
        <p:spPr>
          <a:xfrm>
            <a:off x="4233672" y="4059936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he-IL" alt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350" dirty="0"/>
          </a:p>
        </p:txBody>
      </p:sp>
      <p:sp>
        <p:nvSpPr>
          <p:cNvPr id="46" name="Text 27">
            <a:extLst>
              <a:ext uri="{FF2B5EF4-FFF2-40B4-BE49-F238E27FC236}">
                <a16:creationId xmlns:a16="http://schemas.microsoft.com/office/drawing/2014/main" id="{2F2DCE15-4E00-4AF8-8463-52B36074D3D9}"/>
              </a:ext>
            </a:extLst>
          </p:cNvPr>
          <p:cNvSpPr/>
          <p:nvPr/>
        </p:nvSpPr>
        <p:spPr>
          <a:xfrm>
            <a:off x="640080" y="4041648"/>
            <a:ext cx="3538728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1" anchor="t">
            <a:normAutofit/>
          </a:bodyPr>
          <a:lstStyle/>
          <a:p>
            <a:pPr marL="0" indent="0" algn="r" rtl="1">
              <a:buNone/>
            </a:pPr>
            <a:r>
              <a:rPr lang="he-IL" altLang="en-US" sz="1270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שינוי מרוכז ואימות מהיר שהשם החדש נקלט בכל שרת.</a:t>
            </a:r>
            <a:endParaRPr lang="en-US" sz="1270" dirty="0"/>
          </a:p>
        </p:txBody>
      </p:sp>
      <p:sp>
        <p:nvSpPr>
          <p:cNvPr id="47" name="Shape 28">
            <a:extLst>
              <a:ext uri="{FF2B5EF4-FFF2-40B4-BE49-F238E27FC236}">
                <a16:creationId xmlns:a16="http://schemas.microsoft.com/office/drawing/2014/main" id="{ACC32F18-5CC8-4303-A7C4-A8BC378A940C}"/>
              </a:ext>
            </a:extLst>
          </p:cNvPr>
          <p:cNvSpPr/>
          <p:nvPr/>
        </p:nvSpPr>
        <p:spPr>
          <a:xfrm>
            <a:off x="4608576" y="3246120"/>
            <a:ext cx="4069080" cy="1426464"/>
          </a:xfrm>
          <a:prstGeom prst="roundRect">
            <a:avLst>
              <a:gd name="adj" fmla="val 3846"/>
            </a:avLst>
          </a:prstGeom>
          <a:solidFill>
            <a:srgbClr val="16213A"/>
          </a:solidFill>
          <a:ln w="12700">
            <a:solidFill>
              <a:srgbClr val="44536E">
                <a:alpha val="90000"/>
              </a:srgbClr>
            </a:solidFill>
            <a:prstDash val="solid"/>
          </a:ln>
        </p:spPr>
      </p:sp>
      <p:sp>
        <p:nvSpPr>
          <p:cNvPr id="48" name="Text 29">
            <a:extLst>
              <a:ext uri="{FF2B5EF4-FFF2-40B4-BE49-F238E27FC236}">
                <a16:creationId xmlns:a16="http://schemas.microsoft.com/office/drawing/2014/main" id="{EB1A38C9-2C5D-4A36-B223-EFC16D53B8E8}"/>
              </a:ext>
            </a:extLst>
          </p:cNvPr>
          <p:cNvSpPr/>
          <p:nvPr/>
        </p:nvSpPr>
        <p:spPr>
          <a:xfrm>
            <a:off x="8366760" y="3493008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he-IL" alt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350" dirty="0"/>
          </a:p>
        </p:txBody>
      </p:sp>
      <p:sp>
        <p:nvSpPr>
          <p:cNvPr id="49" name="Text 30">
            <a:extLst>
              <a:ext uri="{FF2B5EF4-FFF2-40B4-BE49-F238E27FC236}">
                <a16:creationId xmlns:a16="http://schemas.microsoft.com/office/drawing/2014/main" id="{7D984955-4294-4E67-8981-FA1A780E6900}"/>
              </a:ext>
            </a:extLst>
          </p:cNvPr>
          <p:cNvSpPr/>
          <p:nvPr/>
        </p:nvSpPr>
        <p:spPr>
          <a:xfrm>
            <a:off x="4773168" y="3474720"/>
            <a:ext cx="3538728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1" anchor="t">
            <a:normAutofit/>
          </a:bodyPr>
          <a:lstStyle/>
          <a:p>
            <a:pPr marL="0" indent="0" algn="r" rtl="1">
              <a:buNone/>
            </a:pPr>
            <a:r>
              <a:rPr lang="he-IL" altLang="en-US" sz="1270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ניווט ידני להגדרות ה־iDRAC בכל שרת והזנת Hostname בנפרד.</a:t>
            </a:r>
            <a:endParaRPr lang="en-US" sz="1270" dirty="0"/>
          </a:p>
        </p:txBody>
      </p:sp>
      <p:sp>
        <p:nvSpPr>
          <p:cNvPr id="50" name="Text 31">
            <a:extLst>
              <a:ext uri="{FF2B5EF4-FFF2-40B4-BE49-F238E27FC236}">
                <a16:creationId xmlns:a16="http://schemas.microsoft.com/office/drawing/2014/main" id="{EF1C436E-E57B-4D2D-876C-6EB3FCAF8602}"/>
              </a:ext>
            </a:extLst>
          </p:cNvPr>
          <p:cNvSpPr/>
          <p:nvPr/>
        </p:nvSpPr>
        <p:spPr>
          <a:xfrm>
            <a:off x="8366760" y="4059936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he-IL" alt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350" dirty="0"/>
          </a:p>
        </p:txBody>
      </p:sp>
      <p:sp>
        <p:nvSpPr>
          <p:cNvPr id="51" name="Text 32">
            <a:extLst>
              <a:ext uri="{FF2B5EF4-FFF2-40B4-BE49-F238E27FC236}">
                <a16:creationId xmlns:a16="http://schemas.microsoft.com/office/drawing/2014/main" id="{89AB4741-F8C9-41EC-9620-16E762BA02E8}"/>
              </a:ext>
            </a:extLst>
          </p:cNvPr>
          <p:cNvSpPr/>
          <p:nvPr/>
        </p:nvSpPr>
        <p:spPr>
          <a:xfrm>
            <a:off x="4773168" y="4041648"/>
            <a:ext cx="3538728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1" anchor="t">
            <a:normAutofit/>
          </a:bodyPr>
          <a:lstStyle/>
          <a:p>
            <a:pPr marL="0" indent="0" algn="r" rtl="1">
              <a:buNone/>
            </a:pPr>
            <a:r>
              <a:rPr lang="he-IL" altLang="en-US" sz="1270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סיכון לטעויות הקלדה או שיוך שם לכתובת IP לא נכונה.</a:t>
            </a:r>
            <a:endParaRPr lang="en-US" sz="1270" dirty="0"/>
          </a:p>
        </p:txBody>
      </p:sp>
      <p:sp>
        <p:nvSpPr>
          <p:cNvPr id="52" name="Shape 33">
            <a:extLst>
              <a:ext uri="{FF2B5EF4-FFF2-40B4-BE49-F238E27FC236}">
                <a16:creationId xmlns:a16="http://schemas.microsoft.com/office/drawing/2014/main" id="{EE16D252-8C5D-49F3-AD3D-F083E9AD7B91}"/>
              </a:ext>
            </a:extLst>
          </p:cNvPr>
          <p:cNvSpPr/>
          <p:nvPr/>
        </p:nvSpPr>
        <p:spPr>
          <a:xfrm>
            <a:off x="8741664" y="3246120"/>
            <a:ext cx="2953512" cy="1426464"/>
          </a:xfrm>
          <a:prstGeom prst="roundRect">
            <a:avLst>
              <a:gd name="adj" fmla="val 3846"/>
            </a:avLst>
          </a:prstGeom>
          <a:solidFill>
            <a:srgbClr val="16213A"/>
          </a:solidFill>
          <a:ln w="12700">
            <a:solidFill>
              <a:srgbClr val="44536E">
                <a:alpha val="90000"/>
              </a:srgbClr>
            </a:solidFill>
            <a:prstDash val="solid"/>
          </a:ln>
        </p:spPr>
      </p:sp>
      <p:sp>
        <p:nvSpPr>
          <p:cNvPr id="53" name="Text 34">
            <a:extLst>
              <a:ext uri="{FF2B5EF4-FFF2-40B4-BE49-F238E27FC236}">
                <a16:creationId xmlns:a16="http://schemas.microsoft.com/office/drawing/2014/main" id="{87DED351-50F3-455B-A8EE-837A928470F1}"/>
              </a:ext>
            </a:extLst>
          </p:cNvPr>
          <p:cNvSpPr/>
          <p:nvPr/>
        </p:nvSpPr>
        <p:spPr>
          <a:xfrm>
            <a:off x="8869680" y="3575304"/>
            <a:ext cx="26974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1" anchor="ctr">
            <a:normAutofit/>
          </a:bodyPr>
          <a:lstStyle/>
          <a:p>
            <a:pPr marL="0" indent="0" algn="r" rtl="1">
              <a:buNone/>
            </a:pPr>
            <a:r>
              <a:rPr lang="he-IL" alt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Hostname</a:t>
            </a:r>
            <a:endParaRPr lang="en-US" sz="1550" dirty="0"/>
          </a:p>
        </p:txBody>
      </p:sp>
      <p:sp>
        <p:nvSpPr>
          <p:cNvPr id="54" name="Text 35">
            <a:extLst>
              <a:ext uri="{FF2B5EF4-FFF2-40B4-BE49-F238E27FC236}">
                <a16:creationId xmlns:a16="http://schemas.microsoft.com/office/drawing/2014/main" id="{552A96D5-24A4-4D2A-AC14-ED2BF65676E4}"/>
              </a:ext>
            </a:extLst>
          </p:cNvPr>
          <p:cNvSpPr/>
          <p:nvPr/>
        </p:nvSpPr>
        <p:spPr>
          <a:xfrm>
            <a:off x="8869680" y="3959352"/>
            <a:ext cx="26974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1" anchor="ctr">
            <a:normAutofit/>
          </a:bodyPr>
          <a:lstStyle/>
          <a:p>
            <a:pPr marL="0" indent="0" algn="r" rtl="1">
              <a:buNone/>
            </a:pPr>
            <a:r>
              <a:rPr lang="he-IL" altLang="en-US" sz="1280" dirty="0">
                <a:solidFill>
                  <a:srgbClr val="FFC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הגדרת </a:t>
            </a:r>
            <a:r>
              <a:rPr lang="en-US" altLang="en-US" sz="1280" dirty="0">
                <a:solidFill>
                  <a:srgbClr val="FFC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Hostname</a:t>
            </a:r>
            <a:r>
              <a:rPr lang="he-IL" altLang="en-US" sz="1280" dirty="0">
                <a:solidFill>
                  <a:srgbClr val="FFC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לפי </a:t>
            </a:r>
            <a:r>
              <a:rPr lang="en-US" altLang="en-US" sz="1280" dirty="0">
                <a:solidFill>
                  <a:srgbClr val="FFC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NDD</a:t>
            </a:r>
            <a:endParaRPr lang="en-US" sz="1280" dirty="0"/>
          </a:p>
        </p:txBody>
      </p:sp>
      <p:sp>
        <p:nvSpPr>
          <p:cNvPr id="55" name="Shape 36">
            <a:extLst>
              <a:ext uri="{FF2B5EF4-FFF2-40B4-BE49-F238E27FC236}">
                <a16:creationId xmlns:a16="http://schemas.microsoft.com/office/drawing/2014/main" id="{E48E6ECF-6CBB-4634-B4E5-754E2B2CFD31}"/>
              </a:ext>
            </a:extLst>
          </p:cNvPr>
          <p:cNvSpPr/>
          <p:nvPr/>
        </p:nvSpPr>
        <p:spPr>
          <a:xfrm>
            <a:off x="475488" y="4791456"/>
            <a:ext cx="4069080" cy="1426464"/>
          </a:xfrm>
          <a:prstGeom prst="roundRect">
            <a:avLst>
              <a:gd name="adj" fmla="val 3846"/>
            </a:avLst>
          </a:prstGeom>
          <a:solidFill>
            <a:srgbClr val="141B2E"/>
          </a:solidFill>
          <a:ln w="12700">
            <a:solidFill>
              <a:srgbClr val="44536E">
                <a:alpha val="90000"/>
              </a:srgbClr>
            </a:solidFill>
            <a:prstDash val="solid"/>
          </a:ln>
        </p:spPr>
      </p:sp>
      <p:sp>
        <p:nvSpPr>
          <p:cNvPr id="56" name="Text 37">
            <a:extLst>
              <a:ext uri="{FF2B5EF4-FFF2-40B4-BE49-F238E27FC236}">
                <a16:creationId xmlns:a16="http://schemas.microsoft.com/office/drawing/2014/main" id="{DA249DCD-6DDD-4AAB-96D7-AE632CD00A76}"/>
              </a:ext>
            </a:extLst>
          </p:cNvPr>
          <p:cNvSpPr/>
          <p:nvPr/>
        </p:nvSpPr>
        <p:spPr>
          <a:xfrm>
            <a:off x="4233672" y="503834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he-IL" alt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350" dirty="0"/>
          </a:p>
        </p:txBody>
      </p:sp>
      <p:sp>
        <p:nvSpPr>
          <p:cNvPr id="57" name="Text 38">
            <a:extLst>
              <a:ext uri="{FF2B5EF4-FFF2-40B4-BE49-F238E27FC236}">
                <a16:creationId xmlns:a16="http://schemas.microsoft.com/office/drawing/2014/main" id="{DD0BA9A3-63A2-46E5-BA9E-371C752FA283}"/>
              </a:ext>
            </a:extLst>
          </p:cNvPr>
          <p:cNvSpPr/>
          <p:nvPr/>
        </p:nvSpPr>
        <p:spPr>
          <a:xfrm>
            <a:off x="640080" y="5020056"/>
            <a:ext cx="3538728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1" anchor="t">
            <a:normAutofit/>
          </a:bodyPr>
          <a:lstStyle/>
          <a:p>
            <a:pPr marL="0" indent="0" algn="r" rtl="1">
              <a:buNone/>
            </a:pPr>
            <a:r>
              <a:rPr lang="he-IL" altLang="en-US" sz="1270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ממשק מרכזי עם לשוניות לכל קטגוריה ומשיכת התצורה הקיימת לפני שינוי.</a:t>
            </a:r>
            <a:endParaRPr lang="en-US" sz="1270" dirty="0"/>
          </a:p>
        </p:txBody>
      </p:sp>
      <p:sp>
        <p:nvSpPr>
          <p:cNvPr id="58" name="Text 39">
            <a:extLst>
              <a:ext uri="{FF2B5EF4-FFF2-40B4-BE49-F238E27FC236}">
                <a16:creationId xmlns:a16="http://schemas.microsoft.com/office/drawing/2014/main" id="{C5A6A0C6-0E64-4018-8A56-8440D6907293}"/>
              </a:ext>
            </a:extLst>
          </p:cNvPr>
          <p:cNvSpPr/>
          <p:nvPr/>
        </p:nvSpPr>
        <p:spPr>
          <a:xfrm>
            <a:off x="4233672" y="5605272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he-IL" alt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350" dirty="0"/>
          </a:p>
        </p:txBody>
      </p:sp>
      <p:sp>
        <p:nvSpPr>
          <p:cNvPr id="59" name="Text 40">
            <a:extLst>
              <a:ext uri="{FF2B5EF4-FFF2-40B4-BE49-F238E27FC236}">
                <a16:creationId xmlns:a16="http://schemas.microsoft.com/office/drawing/2014/main" id="{5076E329-0004-4BC0-A8C3-859DB2723F02}"/>
              </a:ext>
            </a:extLst>
          </p:cNvPr>
          <p:cNvSpPr/>
          <p:nvPr/>
        </p:nvSpPr>
        <p:spPr>
          <a:xfrm>
            <a:off x="640080" y="5586984"/>
            <a:ext cx="3538728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1" anchor="t">
            <a:normAutofit/>
          </a:bodyPr>
          <a:lstStyle/>
          <a:p>
            <a:pPr marL="0" indent="0" algn="r" rtl="1">
              <a:buNone/>
            </a:pPr>
            <a:r>
              <a:rPr lang="he-IL" altLang="en-US" sz="1270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אפשרות להעתיק הגדרות לשרתים נוספים ולשמור אחידות בפרויקט.</a:t>
            </a:r>
            <a:endParaRPr lang="en-US" sz="1270" dirty="0"/>
          </a:p>
        </p:txBody>
      </p:sp>
      <p:sp>
        <p:nvSpPr>
          <p:cNvPr id="60" name="Shape 41">
            <a:extLst>
              <a:ext uri="{FF2B5EF4-FFF2-40B4-BE49-F238E27FC236}">
                <a16:creationId xmlns:a16="http://schemas.microsoft.com/office/drawing/2014/main" id="{51D17B89-9085-4AEE-87ED-9CA78EE96922}"/>
              </a:ext>
            </a:extLst>
          </p:cNvPr>
          <p:cNvSpPr/>
          <p:nvPr/>
        </p:nvSpPr>
        <p:spPr>
          <a:xfrm>
            <a:off x="4608576" y="4791456"/>
            <a:ext cx="4069080" cy="1426464"/>
          </a:xfrm>
          <a:prstGeom prst="roundRect">
            <a:avLst>
              <a:gd name="adj" fmla="val 3846"/>
            </a:avLst>
          </a:prstGeom>
          <a:solidFill>
            <a:srgbClr val="141B2E"/>
          </a:solidFill>
          <a:ln w="12700">
            <a:solidFill>
              <a:srgbClr val="44536E">
                <a:alpha val="90000"/>
              </a:srgbClr>
            </a:solidFill>
            <a:prstDash val="solid"/>
          </a:ln>
        </p:spPr>
      </p:sp>
      <p:sp>
        <p:nvSpPr>
          <p:cNvPr id="61" name="Text 42">
            <a:extLst>
              <a:ext uri="{FF2B5EF4-FFF2-40B4-BE49-F238E27FC236}">
                <a16:creationId xmlns:a16="http://schemas.microsoft.com/office/drawing/2014/main" id="{397B51F9-BD51-49FD-8272-0ADD522DDA16}"/>
              </a:ext>
            </a:extLst>
          </p:cNvPr>
          <p:cNvSpPr/>
          <p:nvPr/>
        </p:nvSpPr>
        <p:spPr>
          <a:xfrm>
            <a:off x="8366760" y="503834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he-IL" alt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350" dirty="0"/>
          </a:p>
        </p:txBody>
      </p:sp>
      <p:sp>
        <p:nvSpPr>
          <p:cNvPr id="62" name="Text 43">
            <a:extLst>
              <a:ext uri="{FF2B5EF4-FFF2-40B4-BE49-F238E27FC236}">
                <a16:creationId xmlns:a16="http://schemas.microsoft.com/office/drawing/2014/main" id="{60DED314-4006-4061-8DE5-3E1384241CF9}"/>
              </a:ext>
            </a:extLst>
          </p:cNvPr>
          <p:cNvSpPr/>
          <p:nvPr/>
        </p:nvSpPr>
        <p:spPr>
          <a:xfrm>
            <a:off x="4773168" y="5020056"/>
            <a:ext cx="3538728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1" anchor="t">
            <a:normAutofit/>
          </a:bodyPr>
          <a:lstStyle/>
          <a:p>
            <a:pPr marL="0" indent="0" algn="r" rtl="1">
              <a:buNone/>
            </a:pPr>
            <a:r>
              <a:rPr lang="he-IL" altLang="en-US" sz="1270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כניסה ידנית לכל ESXi Host ומעבר בין מסכי NTP, רישוי, vSwitch ו־VMkernel.</a:t>
            </a:r>
            <a:endParaRPr lang="en-US" sz="1270" dirty="0"/>
          </a:p>
        </p:txBody>
      </p:sp>
      <p:sp>
        <p:nvSpPr>
          <p:cNvPr id="63" name="Text 44">
            <a:extLst>
              <a:ext uri="{FF2B5EF4-FFF2-40B4-BE49-F238E27FC236}">
                <a16:creationId xmlns:a16="http://schemas.microsoft.com/office/drawing/2014/main" id="{B7BED62A-5139-44F4-A358-299BCE88EA02}"/>
              </a:ext>
            </a:extLst>
          </p:cNvPr>
          <p:cNvSpPr/>
          <p:nvPr/>
        </p:nvSpPr>
        <p:spPr>
          <a:xfrm>
            <a:off x="8366760" y="5605272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he-IL" alt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350" dirty="0"/>
          </a:p>
        </p:txBody>
      </p:sp>
      <p:sp>
        <p:nvSpPr>
          <p:cNvPr id="64" name="Text 45">
            <a:extLst>
              <a:ext uri="{FF2B5EF4-FFF2-40B4-BE49-F238E27FC236}">
                <a16:creationId xmlns:a16="http://schemas.microsoft.com/office/drawing/2014/main" id="{02B52FF9-1B37-4947-8511-1EB12E3512D1}"/>
              </a:ext>
            </a:extLst>
          </p:cNvPr>
          <p:cNvSpPr/>
          <p:nvPr/>
        </p:nvSpPr>
        <p:spPr>
          <a:xfrm>
            <a:off x="4773168" y="5586984"/>
            <a:ext cx="3538728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1" anchor="t">
            <a:normAutofit/>
          </a:bodyPr>
          <a:lstStyle/>
          <a:p>
            <a:pPr marL="0" indent="0" algn="r" rtl="1">
              <a:buNone/>
            </a:pPr>
            <a:r>
              <a:rPr lang="he-IL" altLang="en-US" sz="1270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הגדרות חוזרות בכל Host עם סיכון לחוסר אחידות ב־VLAN / IP.</a:t>
            </a:r>
            <a:endParaRPr lang="en-US" sz="1270" dirty="0"/>
          </a:p>
        </p:txBody>
      </p:sp>
      <p:sp>
        <p:nvSpPr>
          <p:cNvPr id="65" name="Shape 46">
            <a:extLst>
              <a:ext uri="{FF2B5EF4-FFF2-40B4-BE49-F238E27FC236}">
                <a16:creationId xmlns:a16="http://schemas.microsoft.com/office/drawing/2014/main" id="{1E4226C0-7D89-4D39-B2FE-0E2B4B8AFC8C}"/>
              </a:ext>
            </a:extLst>
          </p:cNvPr>
          <p:cNvSpPr/>
          <p:nvPr/>
        </p:nvSpPr>
        <p:spPr>
          <a:xfrm>
            <a:off x="8741664" y="4791456"/>
            <a:ext cx="2953512" cy="1426464"/>
          </a:xfrm>
          <a:prstGeom prst="roundRect">
            <a:avLst>
              <a:gd name="adj" fmla="val 3846"/>
            </a:avLst>
          </a:prstGeom>
          <a:solidFill>
            <a:srgbClr val="141B2E"/>
          </a:solidFill>
          <a:ln w="12700">
            <a:solidFill>
              <a:srgbClr val="44536E">
                <a:alpha val="90000"/>
              </a:srgbClr>
            </a:solidFill>
            <a:prstDash val="solid"/>
          </a:ln>
        </p:spPr>
      </p:sp>
      <p:sp>
        <p:nvSpPr>
          <p:cNvPr id="66" name="Text 47">
            <a:extLst>
              <a:ext uri="{FF2B5EF4-FFF2-40B4-BE49-F238E27FC236}">
                <a16:creationId xmlns:a16="http://schemas.microsoft.com/office/drawing/2014/main" id="{79746F94-164E-435F-BC77-9B6A5F05E25F}"/>
              </a:ext>
            </a:extLst>
          </p:cNvPr>
          <p:cNvSpPr/>
          <p:nvPr/>
        </p:nvSpPr>
        <p:spPr>
          <a:xfrm>
            <a:off x="8869680" y="5120640"/>
            <a:ext cx="26974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1" anchor="ctr">
            <a:normAutofit/>
          </a:bodyPr>
          <a:lstStyle/>
          <a:p>
            <a:pPr marL="0" indent="0" algn="r" rtl="1">
              <a:buNone/>
            </a:pPr>
            <a:r>
              <a:rPr lang="he-IL" alt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esxi_host_config</a:t>
            </a:r>
            <a:endParaRPr lang="en-US" sz="1550" dirty="0"/>
          </a:p>
        </p:txBody>
      </p:sp>
      <p:sp>
        <p:nvSpPr>
          <p:cNvPr id="67" name="Text 48">
            <a:extLst>
              <a:ext uri="{FF2B5EF4-FFF2-40B4-BE49-F238E27FC236}">
                <a16:creationId xmlns:a16="http://schemas.microsoft.com/office/drawing/2014/main" id="{4D8FDFAF-6855-4368-8EA1-21E663B16B92}"/>
              </a:ext>
            </a:extLst>
          </p:cNvPr>
          <p:cNvSpPr/>
          <p:nvPr/>
        </p:nvSpPr>
        <p:spPr>
          <a:xfrm>
            <a:off x="8869680" y="5504688"/>
            <a:ext cx="26974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1" anchor="ctr">
            <a:normAutofit/>
          </a:bodyPr>
          <a:lstStyle/>
          <a:p>
            <a:pPr marL="0" indent="0" algn="r" rtl="1">
              <a:buNone/>
            </a:pPr>
            <a:r>
              <a:rPr lang="he-IL" altLang="en-US" sz="1280" dirty="0">
                <a:solidFill>
                  <a:srgbClr val="FFC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הגדרת ESXi Host</a:t>
            </a:r>
            <a:endParaRPr lang="en-US" sz="1280" dirty="0"/>
          </a:p>
        </p:txBody>
      </p:sp>
      <p:sp>
        <p:nvSpPr>
          <p:cNvPr id="68" name="Text 49">
            <a:extLst>
              <a:ext uri="{FF2B5EF4-FFF2-40B4-BE49-F238E27FC236}">
                <a16:creationId xmlns:a16="http://schemas.microsoft.com/office/drawing/2014/main" id="{5FC3F33B-773A-4943-B2FD-BE04203FEA2C}"/>
              </a:ext>
            </a:extLst>
          </p:cNvPr>
          <p:cNvSpPr/>
          <p:nvPr/>
        </p:nvSpPr>
        <p:spPr>
          <a:xfrm>
            <a:off x="502920" y="6547104"/>
            <a:ext cx="1120140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1" anchor="ctr"/>
          <a:lstStyle/>
          <a:p>
            <a:pPr marL="0" indent="0" algn="r" rtl="1">
              <a:buNone/>
            </a:pPr>
            <a:r>
              <a:rPr lang="he-IL" altLang="en-US" sz="900" dirty="0">
                <a:solidFill>
                  <a:srgbClr val="8FA1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Automation  •  HIPER Global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1494008" y="457200"/>
            <a:ext cx="146304" cy="1005840"/>
          </a:xfrm>
          <a:prstGeom prst="roundRect">
            <a:avLst/>
          </a:prstGeom>
          <a:solidFill>
            <a:srgbClr val="F27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10835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27A1D"/>
                </a:solidFill>
                <a:latin typeface="Arial"/>
              </a:rPr>
              <a:t>קטגוריה · כיבוי (Power OFF)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835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כיבוי שרתים לפי כתובת iDRAC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45352" y="1691640"/>
            <a:ext cx="5394960" cy="3246120"/>
          </a:xfrm>
          <a:prstGeom prst="roundRect">
            <a:avLst/>
          </a:prstGeom>
          <a:solidFill>
            <a:srgbClr val="30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45352" y="1691640"/>
            <a:ext cx="5394960" cy="530352"/>
          </a:xfrm>
          <a:prstGeom prst="roundRect">
            <a:avLst/>
          </a:prstGeom>
          <a:solidFill>
            <a:srgbClr val="E5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45352" y="1721640"/>
            <a:ext cx="5394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40E0E"/>
                </a:solidFill>
                <a:latin typeface="Arial"/>
              </a:rPr>
              <a:t>לפני — ידני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85352" y="2411640"/>
            <a:ext cx="511496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900"/>
              </a:spcAft>
            </a:pPr>
            <a:r>
              <a:rPr sz="1500" dirty="0">
                <a:solidFill>
                  <a:srgbClr val="F3CBC6"/>
                </a:solidFill>
                <a:latin typeface="Arial"/>
              </a:rPr>
              <a:t>•  </a:t>
            </a:r>
            <a:r>
              <a:rPr sz="1500" dirty="0" err="1">
                <a:solidFill>
                  <a:srgbClr val="F3CBC6"/>
                </a:solidFill>
                <a:latin typeface="Arial"/>
              </a:rPr>
              <a:t>כיבוי</a:t>
            </a:r>
            <a:r>
              <a:rPr sz="1500" dirty="0">
                <a:solidFill>
                  <a:srgbClr val="F3CBC6"/>
                </a:solidFill>
                <a:latin typeface="Arial"/>
              </a:rPr>
              <a:t> </a:t>
            </a:r>
            <a:r>
              <a:rPr lang="he-IL" sz="1500" dirty="0">
                <a:solidFill>
                  <a:srgbClr val="F3CBC6"/>
                </a:solidFill>
                <a:latin typeface="Arial"/>
              </a:rPr>
              <a:t>שרתים ידנית ע"י התחברות ל- </a:t>
            </a:r>
            <a:r>
              <a:rPr lang="en-US" sz="1500" dirty="0" err="1">
                <a:solidFill>
                  <a:srgbClr val="F3CBC6"/>
                </a:solidFill>
                <a:latin typeface="Arial"/>
              </a:rPr>
              <a:t>iDrac</a:t>
            </a:r>
            <a:r>
              <a:rPr lang="he-IL" sz="1500" dirty="0">
                <a:solidFill>
                  <a:srgbClr val="F3CBC6"/>
                </a:solidFill>
                <a:latin typeface="Arial"/>
              </a:rPr>
              <a:t> </a:t>
            </a:r>
            <a:r>
              <a:rPr lang="he-IL" sz="1500" b="1" u="sng" dirty="0">
                <a:solidFill>
                  <a:srgbClr val="F3CBC6"/>
                </a:solidFill>
                <a:latin typeface="Arial"/>
              </a:rPr>
              <a:t>שרת-שרת </a:t>
            </a:r>
            <a:r>
              <a:rPr lang="he-IL" sz="1500" dirty="0">
                <a:solidFill>
                  <a:srgbClr val="F3CBC6"/>
                </a:solidFill>
                <a:latin typeface="Arial"/>
              </a:rPr>
              <a:t>ולחיצה על כיבוי, </a:t>
            </a:r>
            <a:br>
              <a:rPr lang="en-US" sz="1500" dirty="0">
                <a:solidFill>
                  <a:srgbClr val="F3CBC6"/>
                </a:solidFill>
                <a:latin typeface="Arial"/>
              </a:rPr>
            </a:br>
            <a:r>
              <a:rPr lang="he-IL" sz="1500" dirty="0">
                <a:solidFill>
                  <a:srgbClr val="F3CBC6"/>
                </a:solidFill>
                <a:latin typeface="Arial"/>
              </a:rPr>
              <a:t>לדוגמא במידה ויש 30 שרתים חזרה על פעולה זו 30 פעמים.</a:t>
            </a:r>
            <a:endParaRPr sz="1500" dirty="0">
              <a:solidFill>
                <a:srgbClr val="F3CBC6"/>
              </a:solidFill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48640" y="1691640"/>
            <a:ext cx="5394960" cy="3246120"/>
          </a:xfrm>
          <a:prstGeom prst="roundRect">
            <a:avLst/>
          </a:prstGeom>
          <a:solidFill>
            <a:srgbClr val="122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48640" y="1691640"/>
            <a:ext cx="5394960" cy="530352"/>
          </a:xfrm>
          <a:prstGeom prst="roundRect">
            <a:avLst/>
          </a:prstGeom>
          <a:solidFill>
            <a:srgbClr val="3FC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721640"/>
            <a:ext cx="5394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1600" b="1" dirty="0" err="1">
                <a:solidFill>
                  <a:srgbClr val="04210F"/>
                </a:solidFill>
                <a:latin typeface="Arial"/>
              </a:rPr>
              <a:t>אחרי</a:t>
            </a:r>
            <a:r>
              <a:rPr sz="1600" b="1" dirty="0">
                <a:solidFill>
                  <a:srgbClr val="04210F"/>
                </a:solidFill>
                <a:latin typeface="Arial"/>
              </a:rPr>
              <a:t> — אוטומציה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8640" y="2411640"/>
            <a:ext cx="51149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900"/>
              </a:spcAft>
            </a:pPr>
            <a:r>
              <a:rPr lang="he-IL" sz="1500" b="1" u="sng" dirty="0">
                <a:solidFill>
                  <a:srgbClr val="C7F0D8"/>
                </a:solidFill>
                <a:latin typeface="Arial"/>
              </a:rPr>
              <a:t>כיבוי כלל השרתים </a:t>
            </a:r>
            <a:r>
              <a:rPr lang="he-IL" sz="1500" dirty="0">
                <a:solidFill>
                  <a:srgbClr val="C7F0D8"/>
                </a:solidFill>
                <a:latin typeface="Arial"/>
              </a:rPr>
              <a:t>בלחיצת כפתור פשוטה</a:t>
            </a:r>
            <a:endParaRPr sz="1500" dirty="0">
              <a:solidFill>
                <a:srgbClr val="C7F0D8"/>
              </a:solidFill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1420856" y="5175504"/>
            <a:ext cx="128016" cy="960120"/>
          </a:xfrm>
          <a:prstGeom prst="roundRect">
            <a:avLst/>
          </a:prstGeom>
          <a:solidFill>
            <a:srgbClr val="F27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2743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ADBDD0"/>
                </a:solidFill>
                <a:latin typeface="Arial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6446520"/>
            <a:ext cx="27706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ADBDD0"/>
                </a:solidFill>
                <a:latin typeface="Arial"/>
              </a:rPr>
              <a:t>PS Automation  •  HIPER Global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1494008" y="457200"/>
            <a:ext cx="146304" cy="1005840"/>
          </a:xfrm>
          <a:prstGeom prst="roundRect">
            <a:avLst/>
          </a:prstGeom>
          <a:solidFill>
            <a:srgbClr val="F27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10835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27A1D"/>
                </a:solidFill>
                <a:latin typeface="Arial"/>
              </a:rPr>
              <a:t>קטגוריה · אחסון / RAID (Storage)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83564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lang="en-US" sz="2800" b="1" dirty="0">
                <a:solidFill>
                  <a:srgbClr val="FFFFFF"/>
                </a:solidFill>
                <a:latin typeface="Arial"/>
              </a:rPr>
              <a:t>Raid1</a:t>
            </a:r>
            <a:endParaRPr sz="28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245352" y="1691640"/>
            <a:ext cx="5394960" cy="3246120"/>
          </a:xfrm>
          <a:prstGeom prst="roundRect">
            <a:avLst/>
          </a:prstGeom>
          <a:solidFill>
            <a:srgbClr val="30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45352" y="1691640"/>
            <a:ext cx="5394960" cy="530352"/>
          </a:xfrm>
          <a:prstGeom prst="roundRect">
            <a:avLst/>
          </a:prstGeom>
          <a:solidFill>
            <a:srgbClr val="E5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45352" y="1721640"/>
            <a:ext cx="5394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40E0E"/>
                </a:solidFill>
                <a:latin typeface="Arial"/>
              </a:rPr>
              <a:t>לפני — ידני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85352" y="2411640"/>
            <a:ext cx="511496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900"/>
              </a:spcAft>
            </a:pPr>
            <a:r>
              <a:rPr lang="he-IL" sz="1500" dirty="0">
                <a:solidFill>
                  <a:srgbClr val="F3CBC6"/>
                </a:solidFill>
                <a:latin typeface="Arial"/>
              </a:rPr>
              <a:t>בחירת </a:t>
            </a:r>
            <a:r>
              <a:rPr lang="en-US" sz="1500" dirty="0">
                <a:solidFill>
                  <a:srgbClr val="F3CBC6"/>
                </a:solidFill>
                <a:latin typeface="Arial"/>
              </a:rPr>
              <a:t>Bios Manager</a:t>
            </a:r>
            <a:r>
              <a:rPr lang="he-IL" sz="1500" dirty="0">
                <a:solidFill>
                  <a:srgbClr val="F3CBC6"/>
                </a:solidFill>
                <a:latin typeface="Arial"/>
              </a:rPr>
              <a:t> -&gt; </a:t>
            </a:r>
            <a:r>
              <a:rPr lang="en-US" sz="1500" dirty="0">
                <a:solidFill>
                  <a:srgbClr val="F3CBC6"/>
                </a:solidFill>
                <a:latin typeface="Arial"/>
              </a:rPr>
              <a:t>Restart to server</a:t>
            </a:r>
            <a:r>
              <a:rPr lang="he-IL" sz="1500" dirty="0">
                <a:solidFill>
                  <a:srgbClr val="F3CBC6"/>
                </a:solidFill>
                <a:latin typeface="Arial"/>
              </a:rPr>
              <a:t> -&gt; </a:t>
            </a:r>
            <a:r>
              <a:rPr lang="en-US" sz="1500" dirty="0">
                <a:solidFill>
                  <a:srgbClr val="F3CBC6"/>
                </a:solidFill>
                <a:latin typeface="Arial"/>
              </a:rPr>
              <a:t>Continue to Bios</a:t>
            </a:r>
            <a:r>
              <a:rPr lang="he-IL" sz="1500" dirty="0">
                <a:solidFill>
                  <a:srgbClr val="F3CBC6"/>
                </a:solidFill>
                <a:latin typeface="Arial"/>
              </a:rPr>
              <a:t> -&gt; </a:t>
            </a:r>
            <a:r>
              <a:rPr lang="en-US" sz="1500" dirty="0">
                <a:solidFill>
                  <a:srgbClr val="F3CBC6"/>
                </a:solidFill>
                <a:latin typeface="Arial"/>
              </a:rPr>
              <a:t>Create virtual disks</a:t>
            </a:r>
            <a:r>
              <a:rPr lang="he-IL" sz="1500" dirty="0">
                <a:solidFill>
                  <a:srgbClr val="F3CBC6"/>
                </a:solidFill>
                <a:latin typeface="Arial"/>
              </a:rPr>
              <a:t> -&gt; </a:t>
            </a:r>
            <a:r>
              <a:rPr lang="en-US" sz="1500" dirty="0">
                <a:solidFill>
                  <a:srgbClr val="F3CBC6"/>
                </a:solidFill>
                <a:latin typeface="Arial"/>
              </a:rPr>
              <a:t>Select physical disks</a:t>
            </a:r>
            <a:r>
              <a:rPr lang="he-IL" sz="1500" dirty="0">
                <a:solidFill>
                  <a:srgbClr val="F3CBC6"/>
                </a:solidFill>
                <a:latin typeface="Arial"/>
              </a:rPr>
              <a:t> -&gt; </a:t>
            </a:r>
            <a:r>
              <a:rPr lang="en-US" sz="1500" dirty="0">
                <a:solidFill>
                  <a:srgbClr val="F3CBC6"/>
                </a:solidFill>
                <a:latin typeface="Arial"/>
              </a:rPr>
              <a:t>select raid…</a:t>
            </a:r>
            <a:br>
              <a:rPr lang="en-US" sz="1500" dirty="0">
                <a:solidFill>
                  <a:srgbClr val="F3CBC6"/>
                </a:solidFill>
                <a:latin typeface="Arial"/>
              </a:rPr>
            </a:br>
            <a:r>
              <a:rPr lang="en-US" sz="1500" dirty="0">
                <a:solidFill>
                  <a:srgbClr val="F3CBC6"/>
                </a:solidFill>
                <a:latin typeface="Arial"/>
              </a:rPr>
              <a:t>*</a:t>
            </a:r>
            <a:r>
              <a:rPr lang="he-IL" sz="1500" dirty="0">
                <a:solidFill>
                  <a:srgbClr val="F3CBC6"/>
                </a:solidFill>
                <a:latin typeface="Arial"/>
              </a:rPr>
              <a:t> שרת-שרת בנפרד</a:t>
            </a:r>
            <a:br>
              <a:rPr lang="en-US" sz="1500" dirty="0">
                <a:solidFill>
                  <a:srgbClr val="F3CBC6"/>
                </a:solidFill>
                <a:latin typeface="Arial"/>
              </a:rPr>
            </a:br>
            <a:br>
              <a:rPr lang="en-US" sz="1500" dirty="0">
                <a:solidFill>
                  <a:srgbClr val="F3CBC6"/>
                </a:solidFill>
                <a:latin typeface="Arial"/>
              </a:rPr>
            </a:br>
            <a:endParaRPr sz="1500" dirty="0">
              <a:solidFill>
                <a:srgbClr val="F3CBC6"/>
              </a:solidFill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48640" y="1691640"/>
            <a:ext cx="5394960" cy="3246120"/>
          </a:xfrm>
          <a:prstGeom prst="roundRect">
            <a:avLst/>
          </a:prstGeom>
          <a:solidFill>
            <a:srgbClr val="122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48640" y="1691640"/>
            <a:ext cx="5394960" cy="530352"/>
          </a:xfrm>
          <a:prstGeom prst="roundRect">
            <a:avLst/>
          </a:prstGeom>
          <a:solidFill>
            <a:srgbClr val="3FC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721640"/>
            <a:ext cx="5394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1600" b="1" dirty="0" err="1">
                <a:solidFill>
                  <a:srgbClr val="04210F"/>
                </a:solidFill>
                <a:latin typeface="Arial"/>
              </a:rPr>
              <a:t>אחרי</a:t>
            </a:r>
            <a:r>
              <a:rPr sz="1600" b="1" dirty="0">
                <a:solidFill>
                  <a:srgbClr val="04210F"/>
                </a:solidFill>
                <a:latin typeface="Arial"/>
              </a:rPr>
              <a:t> — אוטומציה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8640" y="2411640"/>
            <a:ext cx="511496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900"/>
              </a:spcAft>
            </a:pPr>
            <a:r>
              <a:rPr lang="he-IL" sz="1500" dirty="0">
                <a:solidFill>
                  <a:srgbClr val="C7F0D8"/>
                </a:solidFill>
                <a:latin typeface="Arial"/>
              </a:rPr>
              <a:t>קליק אחד שמבקש ממני להכניס שם משתמש וסיסמה ל- </a:t>
            </a:r>
            <a:r>
              <a:rPr lang="en-US" sz="1500" dirty="0" err="1">
                <a:solidFill>
                  <a:srgbClr val="C7F0D8"/>
                </a:solidFill>
                <a:latin typeface="Arial"/>
              </a:rPr>
              <a:t>iDrac</a:t>
            </a:r>
            <a:r>
              <a:rPr lang="en-US" sz="1500" dirty="0">
                <a:solidFill>
                  <a:srgbClr val="C7F0D8"/>
                </a:solidFill>
                <a:latin typeface="Arial"/>
              </a:rPr>
              <a:t> </a:t>
            </a:r>
            <a:r>
              <a:rPr lang="he-IL" sz="1500" dirty="0">
                <a:solidFill>
                  <a:srgbClr val="C7F0D8"/>
                </a:solidFill>
                <a:latin typeface="Arial"/>
              </a:rPr>
              <a:t> + </a:t>
            </a:r>
            <a:r>
              <a:rPr lang="he-IL" sz="1500" dirty="0" err="1">
                <a:solidFill>
                  <a:srgbClr val="C7F0D8"/>
                </a:solidFill>
                <a:latin typeface="Arial"/>
              </a:rPr>
              <a:t>אייפי</a:t>
            </a:r>
            <a:r>
              <a:rPr lang="he-IL" sz="1500" dirty="0">
                <a:solidFill>
                  <a:srgbClr val="C7F0D8"/>
                </a:solidFill>
                <a:latin typeface="Arial"/>
              </a:rPr>
              <a:t> מתאים.</a:t>
            </a:r>
            <a:br>
              <a:rPr lang="en-US" sz="1500" dirty="0">
                <a:solidFill>
                  <a:srgbClr val="C7F0D8"/>
                </a:solidFill>
                <a:latin typeface="Arial"/>
              </a:rPr>
            </a:br>
            <a:r>
              <a:rPr lang="he-IL" sz="1500" dirty="0">
                <a:solidFill>
                  <a:srgbClr val="C7F0D8"/>
                </a:solidFill>
                <a:latin typeface="Arial"/>
              </a:rPr>
              <a:t>כמו כן פעולה זו רצה במקביל על אינספור שרתים, החיסכון של הזמן פה הוא עצום.</a:t>
            </a:r>
            <a:endParaRPr sz="1500" dirty="0">
              <a:solidFill>
                <a:srgbClr val="C7F0D8"/>
              </a:solidFill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1420856" y="5175504"/>
            <a:ext cx="128016" cy="960120"/>
          </a:xfrm>
          <a:prstGeom prst="roundRect">
            <a:avLst/>
          </a:prstGeom>
          <a:solidFill>
            <a:srgbClr val="F27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2743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ADBDD0"/>
                </a:solidFill>
                <a:latin typeface="Arial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6446520"/>
            <a:ext cx="27706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ADBDD0"/>
                </a:solidFill>
                <a:latin typeface="Arial"/>
              </a:rPr>
              <a:t>PS Automation  •  HIPER Global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1494008" y="457200"/>
            <a:ext cx="146304" cy="1005840"/>
          </a:xfrm>
          <a:prstGeom prst="roundRect">
            <a:avLst/>
          </a:prstGeom>
          <a:solidFill>
            <a:srgbClr val="F27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10835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27A1D"/>
                </a:solidFill>
                <a:latin typeface="Arial"/>
              </a:rPr>
              <a:t>קטגוריה · אימות (RedHat / ATP)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835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אימות ATP על שרתי Red Hat דרך SSH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45352" y="1691640"/>
            <a:ext cx="5394960" cy="3246120"/>
          </a:xfrm>
          <a:prstGeom prst="roundRect">
            <a:avLst/>
          </a:prstGeom>
          <a:solidFill>
            <a:srgbClr val="30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45352" y="1691640"/>
            <a:ext cx="5394960" cy="530352"/>
          </a:xfrm>
          <a:prstGeom prst="roundRect">
            <a:avLst/>
          </a:prstGeom>
          <a:solidFill>
            <a:srgbClr val="E5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45352" y="1721640"/>
            <a:ext cx="5394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40E0E"/>
                </a:solidFill>
                <a:latin typeface="Arial"/>
              </a:rPr>
              <a:t>לפני — ידני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85352" y="2411640"/>
            <a:ext cx="511496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900"/>
              </a:spcAft>
            </a:pPr>
            <a:r>
              <a:rPr sz="1500" dirty="0">
                <a:solidFill>
                  <a:srgbClr val="F3CBC6"/>
                </a:solidFill>
                <a:latin typeface="Arial"/>
              </a:rPr>
              <a:t>•  </a:t>
            </a:r>
            <a:r>
              <a:rPr lang="he-IL" sz="1500" dirty="0">
                <a:solidFill>
                  <a:srgbClr val="F3CBC6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F3CBC6"/>
                </a:solidFill>
                <a:latin typeface="Arial"/>
              </a:rPr>
              <a:t>התחברות</a:t>
            </a:r>
            <a:r>
              <a:rPr lang="he-IL" sz="1500" dirty="0">
                <a:solidFill>
                  <a:srgbClr val="F3CBC6"/>
                </a:solidFill>
                <a:latin typeface="Arial"/>
              </a:rPr>
              <a:t> באמצעות</a:t>
            </a:r>
            <a:r>
              <a:rPr sz="1500" dirty="0">
                <a:solidFill>
                  <a:srgbClr val="F3CBC6"/>
                </a:solidFill>
                <a:latin typeface="Arial"/>
              </a:rPr>
              <a:t> SSH </a:t>
            </a:r>
            <a:r>
              <a:rPr lang="he-IL" sz="1500" dirty="0">
                <a:solidFill>
                  <a:srgbClr val="F3CBC6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F3CBC6"/>
                </a:solidFill>
                <a:latin typeface="Arial"/>
              </a:rPr>
              <a:t>ידנית</a:t>
            </a:r>
            <a:r>
              <a:rPr sz="1500" dirty="0">
                <a:solidFill>
                  <a:srgbClr val="F3CBC6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F3CBC6"/>
                </a:solidFill>
                <a:latin typeface="Arial"/>
              </a:rPr>
              <a:t>לכל</a:t>
            </a:r>
            <a:r>
              <a:rPr sz="1500" dirty="0">
                <a:solidFill>
                  <a:srgbClr val="F3CBC6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F3CBC6"/>
                </a:solidFill>
                <a:latin typeface="Arial"/>
              </a:rPr>
              <a:t>שרת</a:t>
            </a:r>
            <a:r>
              <a:rPr sz="1500" dirty="0">
                <a:solidFill>
                  <a:srgbClr val="F3CBC6"/>
                </a:solidFill>
                <a:latin typeface="Arial"/>
              </a:rPr>
              <a:t> Red Hat</a:t>
            </a:r>
            <a:r>
              <a:rPr lang="he-IL" sz="1500" dirty="0">
                <a:solidFill>
                  <a:srgbClr val="F3CBC6"/>
                </a:solidFill>
                <a:latin typeface="Arial"/>
              </a:rPr>
              <a:t> </a:t>
            </a:r>
            <a:endParaRPr sz="1500" dirty="0">
              <a:solidFill>
                <a:srgbClr val="F3CBC6"/>
              </a:solidFill>
              <a:latin typeface="Arial"/>
            </a:endParaRPr>
          </a:p>
          <a:p>
            <a:pPr algn="r" rtl="1">
              <a:spcAft>
                <a:spcPts val="900"/>
              </a:spcAft>
            </a:pPr>
            <a:r>
              <a:rPr sz="1500" dirty="0">
                <a:solidFill>
                  <a:srgbClr val="F3CBC6"/>
                </a:solidFill>
                <a:latin typeface="Arial"/>
              </a:rPr>
              <a:t>•  </a:t>
            </a:r>
            <a:r>
              <a:rPr lang="he-IL" sz="1500" dirty="0">
                <a:solidFill>
                  <a:srgbClr val="F3CBC6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F3CBC6"/>
                </a:solidFill>
                <a:latin typeface="Arial"/>
              </a:rPr>
              <a:t>הרצת</a:t>
            </a:r>
            <a:r>
              <a:rPr sz="1500" dirty="0">
                <a:solidFill>
                  <a:srgbClr val="F3CBC6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F3CBC6"/>
                </a:solidFill>
                <a:latin typeface="Arial"/>
              </a:rPr>
              <a:t>סט</a:t>
            </a:r>
            <a:r>
              <a:rPr sz="1500" dirty="0">
                <a:solidFill>
                  <a:srgbClr val="F3CBC6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F3CBC6"/>
                </a:solidFill>
                <a:latin typeface="Arial"/>
              </a:rPr>
              <a:t>פקודות</a:t>
            </a:r>
            <a:r>
              <a:rPr sz="1500" dirty="0">
                <a:solidFill>
                  <a:srgbClr val="F3CBC6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F3CBC6"/>
                </a:solidFill>
                <a:latin typeface="Arial"/>
              </a:rPr>
              <a:t>בדיקה</a:t>
            </a:r>
            <a:r>
              <a:rPr sz="1500" dirty="0">
                <a:solidFill>
                  <a:srgbClr val="F3CBC6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F3CBC6"/>
                </a:solidFill>
                <a:latin typeface="Arial"/>
              </a:rPr>
              <a:t>ידנית</a:t>
            </a:r>
            <a:r>
              <a:rPr sz="1500" dirty="0">
                <a:solidFill>
                  <a:srgbClr val="F3CBC6"/>
                </a:solidFill>
                <a:latin typeface="Arial"/>
              </a:rPr>
              <a:t>, </a:t>
            </a:r>
            <a:r>
              <a:rPr sz="1500" dirty="0" err="1">
                <a:solidFill>
                  <a:srgbClr val="F3CBC6"/>
                </a:solidFill>
                <a:latin typeface="Arial"/>
              </a:rPr>
              <a:t>שרת-שרת</a:t>
            </a:r>
            <a:r>
              <a:rPr sz="1500" dirty="0">
                <a:solidFill>
                  <a:srgbClr val="F3CBC6"/>
                </a:solidFill>
                <a:latin typeface="Arial"/>
              </a:rPr>
              <a:t>.</a:t>
            </a:r>
          </a:p>
          <a:p>
            <a:pPr algn="r" rtl="1">
              <a:spcAft>
                <a:spcPts val="900"/>
              </a:spcAft>
            </a:pPr>
            <a:r>
              <a:rPr sz="1500" dirty="0">
                <a:solidFill>
                  <a:srgbClr val="F3CBC6"/>
                </a:solidFill>
                <a:latin typeface="Arial"/>
              </a:rPr>
              <a:t>•  </a:t>
            </a:r>
            <a:r>
              <a:rPr lang="he-IL" sz="1500" dirty="0">
                <a:solidFill>
                  <a:srgbClr val="F3CBC6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F3CBC6"/>
                </a:solidFill>
                <a:latin typeface="Arial"/>
              </a:rPr>
              <a:t>העתקת</a:t>
            </a:r>
            <a:r>
              <a:rPr sz="1500" dirty="0">
                <a:solidFill>
                  <a:srgbClr val="F3CBC6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F3CBC6"/>
                </a:solidFill>
                <a:latin typeface="Arial"/>
              </a:rPr>
              <a:t>הפלט</a:t>
            </a:r>
            <a:r>
              <a:rPr sz="1500" dirty="0">
                <a:solidFill>
                  <a:srgbClr val="F3CBC6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F3CBC6"/>
                </a:solidFill>
                <a:latin typeface="Arial"/>
              </a:rPr>
              <a:t>ידנית</a:t>
            </a:r>
            <a:r>
              <a:rPr sz="1500" dirty="0">
                <a:solidFill>
                  <a:srgbClr val="F3CBC6"/>
                </a:solidFill>
                <a:latin typeface="Arial"/>
              </a:rPr>
              <a:t> </a:t>
            </a:r>
            <a:r>
              <a:rPr lang="he-IL" sz="1500" dirty="0">
                <a:solidFill>
                  <a:srgbClr val="F3CBC6"/>
                </a:solidFill>
                <a:latin typeface="Arial"/>
              </a:rPr>
              <a:t>= מתקון לטעויות אנוש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91640"/>
            <a:ext cx="5394960" cy="3246120"/>
          </a:xfrm>
          <a:prstGeom prst="roundRect">
            <a:avLst/>
          </a:prstGeom>
          <a:solidFill>
            <a:srgbClr val="122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48640" y="1691640"/>
            <a:ext cx="5394960" cy="530352"/>
          </a:xfrm>
          <a:prstGeom prst="roundRect">
            <a:avLst/>
          </a:prstGeom>
          <a:solidFill>
            <a:srgbClr val="3FC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721640"/>
            <a:ext cx="5394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1600" b="1" dirty="0" err="1">
                <a:solidFill>
                  <a:srgbClr val="04210F"/>
                </a:solidFill>
                <a:latin typeface="Arial"/>
              </a:rPr>
              <a:t>אחרי</a:t>
            </a:r>
            <a:r>
              <a:rPr sz="1600" b="1" dirty="0">
                <a:solidFill>
                  <a:srgbClr val="04210F"/>
                </a:solidFill>
                <a:latin typeface="Arial"/>
              </a:rPr>
              <a:t> — אוטומציה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8640" y="2411640"/>
            <a:ext cx="5114960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900"/>
              </a:spcAft>
            </a:pPr>
            <a:r>
              <a:rPr lang="en-US" sz="1500" dirty="0">
                <a:solidFill>
                  <a:srgbClr val="C7F0D8"/>
                </a:solidFill>
                <a:latin typeface="Arial"/>
              </a:rPr>
              <a:t>• </a:t>
            </a:r>
            <a:r>
              <a:rPr lang="he-IL" sz="1500" dirty="0">
                <a:solidFill>
                  <a:srgbClr val="C7F0D8"/>
                </a:solidFill>
                <a:latin typeface="Arial"/>
              </a:rPr>
              <a:t> האוטומציה </a:t>
            </a:r>
            <a:r>
              <a:rPr sz="1500" dirty="0" err="1">
                <a:solidFill>
                  <a:srgbClr val="C7F0D8"/>
                </a:solidFill>
                <a:latin typeface="Arial"/>
              </a:rPr>
              <a:t>מרי</a:t>
            </a:r>
            <a:r>
              <a:rPr lang="he-IL" sz="1500" dirty="0" err="1">
                <a:solidFill>
                  <a:srgbClr val="C7F0D8"/>
                </a:solidFill>
                <a:latin typeface="Arial"/>
              </a:rPr>
              <a:t>צה</a:t>
            </a:r>
            <a:r>
              <a:rPr sz="1500" dirty="0">
                <a:solidFill>
                  <a:srgbClr val="C7F0D8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C7F0D8"/>
                </a:solidFill>
                <a:latin typeface="Arial"/>
              </a:rPr>
              <a:t>את</a:t>
            </a:r>
            <a:r>
              <a:rPr sz="1500" dirty="0">
                <a:solidFill>
                  <a:srgbClr val="C7F0D8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C7F0D8"/>
                </a:solidFill>
                <a:latin typeface="Arial"/>
              </a:rPr>
              <a:t>כל</a:t>
            </a:r>
            <a:r>
              <a:rPr sz="1500" dirty="0">
                <a:solidFill>
                  <a:srgbClr val="C7F0D8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C7F0D8"/>
                </a:solidFill>
                <a:latin typeface="Arial"/>
              </a:rPr>
              <a:t>סט</a:t>
            </a:r>
            <a:r>
              <a:rPr sz="1500" dirty="0">
                <a:solidFill>
                  <a:srgbClr val="C7F0D8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C7F0D8"/>
                </a:solidFill>
                <a:latin typeface="Arial"/>
              </a:rPr>
              <a:t>הבדיקות</a:t>
            </a:r>
            <a:r>
              <a:rPr sz="1500" dirty="0">
                <a:solidFill>
                  <a:srgbClr val="C7F0D8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C7F0D8"/>
                </a:solidFill>
                <a:latin typeface="Arial"/>
              </a:rPr>
              <a:t>אוטומטי</a:t>
            </a:r>
            <a:r>
              <a:rPr lang="he-IL" sz="1500" dirty="0">
                <a:solidFill>
                  <a:srgbClr val="C7F0D8"/>
                </a:solidFill>
                <a:latin typeface="Arial"/>
              </a:rPr>
              <a:t>ת לכלל השרתים גם יחד, ומוציאה לבסוף</a:t>
            </a:r>
            <a:r>
              <a:rPr sz="1500" dirty="0">
                <a:solidFill>
                  <a:srgbClr val="C7F0D8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C7F0D8"/>
                </a:solidFill>
                <a:latin typeface="Arial"/>
              </a:rPr>
              <a:t>קובץ</a:t>
            </a:r>
            <a:r>
              <a:rPr sz="1500" dirty="0">
                <a:solidFill>
                  <a:srgbClr val="C7F0D8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C7F0D8"/>
                </a:solidFill>
                <a:latin typeface="Arial"/>
              </a:rPr>
              <a:t>פלט</a:t>
            </a:r>
            <a:r>
              <a:rPr sz="1500" dirty="0">
                <a:solidFill>
                  <a:srgbClr val="C7F0D8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C7F0D8"/>
                </a:solidFill>
                <a:latin typeface="Arial"/>
              </a:rPr>
              <a:t>נפרד</a:t>
            </a:r>
            <a:r>
              <a:rPr sz="1500" dirty="0">
                <a:solidFill>
                  <a:srgbClr val="C7F0D8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C7F0D8"/>
                </a:solidFill>
                <a:latin typeface="Arial"/>
              </a:rPr>
              <a:t>לכל</a:t>
            </a:r>
            <a:r>
              <a:rPr sz="1500" dirty="0">
                <a:solidFill>
                  <a:srgbClr val="C7F0D8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C7F0D8"/>
                </a:solidFill>
                <a:latin typeface="Arial"/>
              </a:rPr>
              <a:t>שרת</a:t>
            </a:r>
            <a:r>
              <a:rPr lang="he-IL" sz="1500" dirty="0">
                <a:solidFill>
                  <a:srgbClr val="C7F0D8"/>
                </a:solidFill>
                <a:latin typeface="Arial"/>
              </a:rPr>
              <a:t>.</a:t>
            </a:r>
          </a:p>
          <a:p>
            <a:pPr algn="r" rtl="1">
              <a:spcAft>
                <a:spcPts val="900"/>
              </a:spcAft>
            </a:pPr>
            <a:r>
              <a:rPr sz="1500" dirty="0">
                <a:solidFill>
                  <a:srgbClr val="C7F0D8"/>
                </a:solidFill>
                <a:latin typeface="Arial"/>
              </a:rPr>
              <a:t>•  </a:t>
            </a:r>
            <a:r>
              <a:rPr lang="he-IL" sz="1500" dirty="0">
                <a:solidFill>
                  <a:srgbClr val="C7F0D8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C7F0D8"/>
                </a:solidFill>
                <a:latin typeface="Arial"/>
              </a:rPr>
              <a:t>זיהוי</a:t>
            </a:r>
            <a:r>
              <a:rPr sz="1500" dirty="0">
                <a:solidFill>
                  <a:srgbClr val="C7F0D8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C7F0D8"/>
                </a:solidFill>
                <a:latin typeface="Arial"/>
              </a:rPr>
              <a:t>הצלחה</a:t>
            </a:r>
            <a:r>
              <a:rPr sz="1500" dirty="0">
                <a:solidFill>
                  <a:srgbClr val="C7F0D8"/>
                </a:solidFill>
                <a:latin typeface="Arial"/>
              </a:rPr>
              <a:t>/</a:t>
            </a:r>
            <a:r>
              <a:rPr sz="1500" dirty="0" err="1">
                <a:solidFill>
                  <a:srgbClr val="C7F0D8"/>
                </a:solidFill>
                <a:latin typeface="Arial"/>
              </a:rPr>
              <a:t>כשל</a:t>
            </a:r>
            <a:r>
              <a:rPr sz="1500" dirty="0">
                <a:solidFill>
                  <a:srgbClr val="C7F0D8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C7F0D8"/>
                </a:solidFill>
                <a:latin typeface="Arial"/>
              </a:rPr>
              <a:t>אמיתי</a:t>
            </a:r>
            <a:r>
              <a:rPr sz="1500" dirty="0">
                <a:solidFill>
                  <a:srgbClr val="C7F0D8"/>
                </a:solidFill>
                <a:latin typeface="Arial"/>
              </a:rPr>
              <a:t> </a:t>
            </a:r>
            <a:r>
              <a:rPr lang="he-IL" sz="1500" dirty="0">
                <a:solidFill>
                  <a:srgbClr val="C7F0D8"/>
                </a:solidFill>
                <a:latin typeface="Arial"/>
              </a:rPr>
              <a:t>לכלל השרתים.</a:t>
            </a:r>
            <a:endParaRPr sz="1500" dirty="0">
              <a:solidFill>
                <a:srgbClr val="C7F0D8"/>
              </a:solidFill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1420856" y="5175504"/>
            <a:ext cx="128016" cy="960120"/>
          </a:xfrm>
          <a:prstGeom prst="roundRect">
            <a:avLst/>
          </a:prstGeom>
          <a:solidFill>
            <a:srgbClr val="F27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2743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ADBDD0"/>
                </a:solidFill>
                <a:latin typeface="Arial"/>
              </a:rP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6446520"/>
            <a:ext cx="27706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ADBDD0"/>
                </a:solidFill>
                <a:latin typeface="Arial"/>
              </a:rPr>
              <a:t>PS Automation  •  HIPER Global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2CEA40-7D5C-4C88-9AE8-CBF8B88E3086}"/>
              </a:ext>
            </a:extLst>
          </p:cNvPr>
          <p:cNvSpPr txBox="1"/>
          <p:nvPr/>
        </p:nvSpPr>
        <p:spPr>
          <a:xfrm>
            <a:off x="7457575" y="320040"/>
            <a:ext cx="4155305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>
              <a:defRPr sz="2700" b="1">
                <a:solidFill>
                  <a:srgbClr val="0F172A"/>
                </a:solidFill>
                <a:latin typeface="Arial"/>
              </a:defRPr>
            </a:pPr>
            <a:r>
              <a:rPr lang="he-IL" dirty="0"/>
              <a:t>אבולוציית תהליך האוטומציה</a:t>
            </a:r>
            <a:endParaRPr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99A9CAD-D671-4A0F-8FC6-AB4835B1CF0A}"/>
              </a:ext>
            </a:extLst>
          </p:cNvPr>
          <p:cNvSpPr/>
          <p:nvPr/>
        </p:nvSpPr>
        <p:spPr>
          <a:xfrm>
            <a:off x="1828800" y="1234440"/>
            <a:ext cx="8503920" cy="9601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858B961-8A86-4D18-AE63-D19E816930A1}"/>
              </a:ext>
            </a:extLst>
          </p:cNvPr>
          <p:cNvSpPr/>
          <p:nvPr/>
        </p:nvSpPr>
        <p:spPr>
          <a:xfrm>
            <a:off x="9491472" y="1417320"/>
            <a:ext cx="566928" cy="5669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940A5A-27EC-4EA1-A37E-CD5444F2AE41}"/>
              </a:ext>
            </a:extLst>
          </p:cNvPr>
          <p:cNvSpPr txBox="1"/>
          <p:nvPr/>
        </p:nvSpPr>
        <p:spPr>
          <a:xfrm>
            <a:off x="2148840" y="1362456"/>
            <a:ext cx="7178040" cy="546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700" b="1">
                <a:solidFill>
                  <a:srgbClr val="1E293B"/>
                </a:solidFill>
                <a:latin typeface="Arial"/>
              </a:defRPr>
            </a:pPr>
            <a:r>
              <a:rPr dirty="0" err="1"/>
              <a:t>קונ</a:t>
            </a:r>
            <a:r>
              <a:rPr lang="he-IL" dirty="0"/>
              <a:t>פ</a:t>
            </a:r>
            <a:r>
              <a:rPr dirty="0" err="1"/>
              <a:t>יגורציה</a:t>
            </a:r>
            <a:r>
              <a:rPr dirty="0"/>
              <a:t> י</a:t>
            </a:r>
            <a:r>
              <a:rPr lang="he-IL" dirty="0"/>
              <a:t>ד</a:t>
            </a:r>
            <a:r>
              <a:rPr dirty="0" err="1"/>
              <a:t>נית</a:t>
            </a:r>
            <a:endParaRPr dirty="0"/>
          </a:p>
          <a:p>
            <a:pPr algn="r" rtl="1">
              <a:defRPr sz="1250">
                <a:solidFill>
                  <a:srgbClr val="475569"/>
                </a:solidFill>
                <a:latin typeface="Arial"/>
              </a:defRPr>
            </a:pPr>
            <a:r>
              <a:rPr dirty="0" err="1"/>
              <a:t>הגדרה</a:t>
            </a:r>
            <a:r>
              <a:rPr dirty="0"/>
              <a:t> </a:t>
            </a:r>
            <a:r>
              <a:rPr dirty="0" err="1"/>
              <a:t>ידנית</a:t>
            </a:r>
            <a:r>
              <a:rPr dirty="0"/>
              <a:t> </a:t>
            </a:r>
            <a:r>
              <a:rPr dirty="0" err="1"/>
              <a:t>לכל</a:t>
            </a:r>
            <a:r>
              <a:rPr dirty="0"/>
              <a:t> </a:t>
            </a:r>
            <a:r>
              <a:rPr dirty="0" err="1"/>
              <a:t>שרת</a:t>
            </a:r>
            <a:r>
              <a:rPr dirty="0"/>
              <a:t>, </a:t>
            </a:r>
            <a:r>
              <a:rPr dirty="0" err="1"/>
              <a:t>מעבר</a:t>
            </a:r>
            <a:r>
              <a:rPr dirty="0"/>
              <a:t> </a:t>
            </a:r>
            <a:r>
              <a:rPr dirty="0" err="1"/>
              <a:t>בין</a:t>
            </a:r>
            <a:r>
              <a:rPr dirty="0"/>
              <a:t> </a:t>
            </a:r>
            <a:r>
              <a:rPr dirty="0" err="1"/>
              <a:t>מסכים</a:t>
            </a:r>
            <a:r>
              <a:rPr dirty="0"/>
              <a:t> </a:t>
            </a:r>
            <a:r>
              <a:rPr dirty="0" err="1"/>
              <a:t>ותלות</a:t>
            </a:r>
            <a:r>
              <a:rPr dirty="0"/>
              <a:t> </a:t>
            </a:r>
            <a:r>
              <a:rPr dirty="0" err="1"/>
              <a:t>מלאה</a:t>
            </a:r>
            <a:r>
              <a:rPr dirty="0"/>
              <a:t> </a:t>
            </a:r>
            <a:r>
              <a:rPr lang="he-IL" dirty="0"/>
              <a:t>בחבר צוות</a:t>
            </a:r>
            <a:r>
              <a:rPr dirty="0"/>
              <a:t>.</a:t>
            </a:r>
          </a:p>
        </p:txBody>
      </p:sp>
      <p:sp>
        <p:nvSpPr>
          <p:cNvPr id="6" name="Down Arrow 5">
            <a:extLst>
              <a:ext uri="{FF2B5EF4-FFF2-40B4-BE49-F238E27FC236}">
                <a16:creationId xmlns:a16="http://schemas.microsoft.com/office/drawing/2014/main" id="{BDEC0A2F-C6C6-457F-BA26-FF2E1A35DFC2}"/>
              </a:ext>
            </a:extLst>
          </p:cNvPr>
          <p:cNvSpPr/>
          <p:nvPr/>
        </p:nvSpPr>
        <p:spPr>
          <a:xfrm>
            <a:off x="5806440" y="2304288"/>
            <a:ext cx="384048" cy="347472"/>
          </a:xfrm>
          <a:prstGeom prst="downArrow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B403E23-C117-465A-B48D-5F0715A3B4CF}"/>
              </a:ext>
            </a:extLst>
          </p:cNvPr>
          <p:cNvSpPr/>
          <p:nvPr/>
        </p:nvSpPr>
        <p:spPr>
          <a:xfrm>
            <a:off x="1828800" y="2514600"/>
            <a:ext cx="8503920" cy="9601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838535E-208B-4D5D-A224-43CE4777E21D}"/>
              </a:ext>
            </a:extLst>
          </p:cNvPr>
          <p:cNvSpPr/>
          <p:nvPr/>
        </p:nvSpPr>
        <p:spPr>
          <a:xfrm>
            <a:off x="9491472" y="2697480"/>
            <a:ext cx="566928" cy="5669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4DC93F-7C15-448F-8C8C-9E8488BC9B3B}"/>
              </a:ext>
            </a:extLst>
          </p:cNvPr>
          <p:cNvSpPr txBox="1"/>
          <p:nvPr/>
        </p:nvSpPr>
        <p:spPr>
          <a:xfrm>
            <a:off x="2148840" y="2642616"/>
            <a:ext cx="7178040" cy="546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700" b="1">
                <a:solidFill>
                  <a:srgbClr val="1E293B"/>
                </a:solidFill>
                <a:latin typeface="Arial"/>
              </a:defRPr>
            </a:pPr>
            <a:r>
              <a:rPr dirty="0" err="1"/>
              <a:t>קונפיגורציה</a:t>
            </a:r>
            <a:r>
              <a:rPr dirty="0"/>
              <a:t> </a:t>
            </a:r>
            <a:r>
              <a:rPr dirty="0" err="1"/>
              <a:t>באמצעות</a:t>
            </a:r>
            <a:r>
              <a:rPr dirty="0"/>
              <a:t> </a:t>
            </a:r>
            <a:r>
              <a:rPr dirty="0" err="1"/>
              <a:t>סקריפטים</a:t>
            </a:r>
            <a:endParaRPr dirty="0"/>
          </a:p>
          <a:p>
            <a:pPr algn="r" rtl="1">
              <a:defRPr sz="1250">
                <a:solidFill>
                  <a:srgbClr val="475569"/>
                </a:solidFill>
                <a:latin typeface="Arial"/>
              </a:defRPr>
            </a:pPr>
            <a:r>
              <a:rPr dirty="0" err="1"/>
              <a:t>הרצת</a:t>
            </a:r>
            <a:r>
              <a:rPr dirty="0"/>
              <a:t> </a:t>
            </a:r>
            <a:r>
              <a:rPr dirty="0" err="1"/>
              <a:t>סקריפטים</a:t>
            </a:r>
            <a:r>
              <a:rPr dirty="0"/>
              <a:t> </a:t>
            </a:r>
            <a:r>
              <a:rPr dirty="0" err="1"/>
              <a:t>נקודתיים</a:t>
            </a:r>
            <a:r>
              <a:rPr dirty="0"/>
              <a:t> </a:t>
            </a:r>
            <a:r>
              <a:rPr dirty="0" err="1"/>
              <a:t>למשימות</a:t>
            </a:r>
            <a:r>
              <a:rPr dirty="0"/>
              <a:t> </a:t>
            </a:r>
            <a:r>
              <a:rPr dirty="0" err="1"/>
              <a:t>שונות</a:t>
            </a:r>
            <a:r>
              <a:rPr dirty="0"/>
              <a:t>, </a:t>
            </a:r>
            <a:r>
              <a:rPr dirty="0" err="1"/>
              <a:t>אך</a:t>
            </a:r>
            <a:r>
              <a:rPr dirty="0"/>
              <a:t> </a:t>
            </a:r>
            <a:r>
              <a:rPr dirty="0" err="1"/>
              <a:t>עדיין</a:t>
            </a:r>
            <a:r>
              <a:rPr dirty="0"/>
              <a:t> </a:t>
            </a:r>
            <a:r>
              <a:rPr dirty="0" err="1"/>
              <a:t>ללא</a:t>
            </a:r>
            <a:r>
              <a:rPr dirty="0"/>
              <a:t> </a:t>
            </a:r>
            <a:r>
              <a:rPr dirty="0" err="1"/>
              <a:t>ממשק</a:t>
            </a:r>
            <a:r>
              <a:rPr dirty="0"/>
              <a:t> </a:t>
            </a:r>
            <a:r>
              <a:rPr dirty="0" err="1"/>
              <a:t>מרכזי</a:t>
            </a:r>
            <a:r>
              <a:rPr dirty="0"/>
              <a:t>.</a:t>
            </a:r>
          </a:p>
        </p:txBody>
      </p:sp>
      <p:sp>
        <p:nvSpPr>
          <p:cNvPr id="10" name="Down Arrow 9">
            <a:extLst>
              <a:ext uri="{FF2B5EF4-FFF2-40B4-BE49-F238E27FC236}">
                <a16:creationId xmlns:a16="http://schemas.microsoft.com/office/drawing/2014/main" id="{52C19CB4-265A-46E5-81F7-B205BCD79F9C}"/>
              </a:ext>
            </a:extLst>
          </p:cNvPr>
          <p:cNvSpPr/>
          <p:nvPr/>
        </p:nvSpPr>
        <p:spPr>
          <a:xfrm>
            <a:off x="5806440" y="3584448"/>
            <a:ext cx="384048" cy="347472"/>
          </a:xfrm>
          <a:prstGeom prst="downArrow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4CD62EB-E82E-4528-AFCC-88CB133CC4A2}"/>
              </a:ext>
            </a:extLst>
          </p:cNvPr>
          <p:cNvSpPr/>
          <p:nvPr/>
        </p:nvSpPr>
        <p:spPr>
          <a:xfrm>
            <a:off x="1828800" y="3794760"/>
            <a:ext cx="8503920" cy="960120"/>
          </a:xfrm>
          <a:prstGeom prst="roundRect">
            <a:avLst/>
          </a:prstGeom>
          <a:solidFill>
            <a:srgbClr val="FFE666"/>
          </a:solidFill>
          <a:ln w="17780"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9A9B196-F28C-48B6-A180-93934FE63C84}"/>
              </a:ext>
            </a:extLst>
          </p:cNvPr>
          <p:cNvSpPr/>
          <p:nvPr/>
        </p:nvSpPr>
        <p:spPr>
          <a:xfrm>
            <a:off x="9491472" y="3977640"/>
            <a:ext cx="566928" cy="566928"/>
          </a:xfrm>
          <a:prstGeom prst="ellipse">
            <a:avLst/>
          </a:prstGeom>
          <a:solidFill>
            <a:srgbClr val="CA8A04"/>
          </a:solidFill>
          <a:ln w="12700">
            <a:solidFill>
              <a:srgbClr val="A162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646911-68A0-44AD-985A-A02B303FB73E}"/>
              </a:ext>
            </a:extLst>
          </p:cNvPr>
          <p:cNvSpPr txBox="1"/>
          <p:nvPr/>
        </p:nvSpPr>
        <p:spPr>
          <a:xfrm>
            <a:off x="2148840" y="3922776"/>
            <a:ext cx="7178040" cy="546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700" b="1">
                <a:solidFill>
                  <a:srgbClr val="1E293B"/>
                </a:solidFill>
                <a:latin typeface="Arial"/>
              </a:defRPr>
            </a:pPr>
            <a:r>
              <a:rPr dirty="0" err="1"/>
              <a:t>קונפיגורציה</a:t>
            </a:r>
            <a:r>
              <a:rPr dirty="0"/>
              <a:t> </a:t>
            </a:r>
            <a:r>
              <a:rPr dirty="0" err="1"/>
              <a:t>באמצעות</a:t>
            </a:r>
            <a:r>
              <a:rPr dirty="0"/>
              <a:t> </a:t>
            </a:r>
            <a:r>
              <a:rPr dirty="0" err="1"/>
              <a:t>אוטומציות</a:t>
            </a:r>
            <a:r>
              <a:rPr dirty="0"/>
              <a:t> </a:t>
            </a:r>
            <a:r>
              <a:rPr dirty="0" err="1"/>
              <a:t>במקום</a:t>
            </a:r>
            <a:r>
              <a:rPr dirty="0"/>
              <a:t> </a:t>
            </a:r>
            <a:r>
              <a:rPr dirty="0" err="1"/>
              <a:t>אחד</a:t>
            </a:r>
            <a:r>
              <a:rPr lang="he-IL" dirty="0"/>
              <a:t> - אפליקציה</a:t>
            </a:r>
            <a:endParaRPr dirty="0"/>
          </a:p>
          <a:p>
            <a:pPr algn="r" rtl="1">
              <a:defRPr sz="1250">
                <a:solidFill>
                  <a:srgbClr val="475569"/>
                </a:solidFill>
                <a:latin typeface="Arial"/>
              </a:defRPr>
            </a:pPr>
            <a:r>
              <a:rPr dirty="0" err="1"/>
              <a:t>אפליקציה</a:t>
            </a:r>
            <a:r>
              <a:rPr dirty="0"/>
              <a:t> </a:t>
            </a:r>
            <a:r>
              <a:rPr dirty="0" err="1"/>
              <a:t>ייעודית</a:t>
            </a:r>
            <a:r>
              <a:rPr dirty="0"/>
              <a:t> </a:t>
            </a:r>
            <a:r>
              <a:rPr dirty="0" err="1"/>
              <a:t>שמרכזת</a:t>
            </a:r>
            <a:r>
              <a:rPr dirty="0"/>
              <a:t> </a:t>
            </a:r>
            <a:r>
              <a:rPr dirty="0" err="1"/>
              <a:t>את</a:t>
            </a:r>
            <a:r>
              <a:rPr dirty="0"/>
              <a:t> </a:t>
            </a:r>
            <a:r>
              <a:rPr dirty="0" err="1"/>
              <a:t>כל</a:t>
            </a:r>
            <a:r>
              <a:rPr dirty="0"/>
              <a:t> </a:t>
            </a:r>
            <a:r>
              <a:rPr dirty="0" err="1"/>
              <a:t>האוטומציות</a:t>
            </a:r>
            <a:r>
              <a:rPr dirty="0"/>
              <a:t> </a:t>
            </a:r>
            <a:r>
              <a:rPr dirty="0" err="1"/>
              <a:t>ומאפשרת</a:t>
            </a:r>
            <a:r>
              <a:rPr dirty="0"/>
              <a:t> </a:t>
            </a:r>
            <a:r>
              <a:rPr dirty="0" err="1"/>
              <a:t>הרצה</a:t>
            </a:r>
            <a:r>
              <a:rPr dirty="0"/>
              <a:t> </a:t>
            </a:r>
            <a:r>
              <a:rPr dirty="0" err="1"/>
              <a:t>מנוהלת</a:t>
            </a:r>
            <a:r>
              <a:rPr dirty="0"/>
              <a:t> </a:t>
            </a:r>
            <a:r>
              <a:rPr dirty="0" err="1"/>
              <a:t>ממקום</a:t>
            </a:r>
            <a:r>
              <a:rPr dirty="0"/>
              <a:t> </a:t>
            </a:r>
            <a:r>
              <a:rPr dirty="0" err="1"/>
              <a:t>אחד</a:t>
            </a:r>
            <a:r>
              <a:rPr dirty="0"/>
              <a:t>.</a:t>
            </a:r>
          </a:p>
        </p:txBody>
      </p:sp>
      <p:sp>
        <p:nvSpPr>
          <p:cNvPr id="14" name="Down Arrow 13">
            <a:extLst>
              <a:ext uri="{FF2B5EF4-FFF2-40B4-BE49-F238E27FC236}">
                <a16:creationId xmlns:a16="http://schemas.microsoft.com/office/drawing/2014/main" id="{762CE38B-A32A-4191-B4AB-FB1AEA8407C2}"/>
              </a:ext>
            </a:extLst>
          </p:cNvPr>
          <p:cNvSpPr/>
          <p:nvPr/>
        </p:nvSpPr>
        <p:spPr>
          <a:xfrm>
            <a:off x="5806440" y="4864608"/>
            <a:ext cx="384048" cy="347472"/>
          </a:xfrm>
          <a:prstGeom prst="downArrow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BA56534-9F98-4C70-A514-B83F8686587C}"/>
              </a:ext>
            </a:extLst>
          </p:cNvPr>
          <p:cNvSpPr/>
          <p:nvPr/>
        </p:nvSpPr>
        <p:spPr>
          <a:xfrm>
            <a:off x="1828800" y="5074920"/>
            <a:ext cx="8503920" cy="9601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BC51D92-DF68-40C8-95D4-47ED1CB830CC}"/>
              </a:ext>
            </a:extLst>
          </p:cNvPr>
          <p:cNvSpPr/>
          <p:nvPr/>
        </p:nvSpPr>
        <p:spPr>
          <a:xfrm>
            <a:off x="9491472" y="5257800"/>
            <a:ext cx="566928" cy="5669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B4273D-1E11-4BA6-8809-63E9D3B7FB67}"/>
              </a:ext>
            </a:extLst>
          </p:cNvPr>
          <p:cNvSpPr txBox="1"/>
          <p:nvPr/>
        </p:nvSpPr>
        <p:spPr>
          <a:xfrm>
            <a:off x="2148840" y="5202936"/>
            <a:ext cx="7178040" cy="546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700" b="1">
                <a:solidFill>
                  <a:srgbClr val="1E293B"/>
                </a:solidFill>
                <a:latin typeface="Arial"/>
              </a:defRPr>
            </a:pPr>
            <a:r>
              <a:rPr dirty="0" err="1"/>
              <a:t>אפליקציה</a:t>
            </a:r>
            <a:r>
              <a:rPr dirty="0"/>
              <a:t> </a:t>
            </a:r>
            <a:r>
              <a:rPr dirty="0" err="1"/>
              <a:t>ייעודית</a:t>
            </a:r>
            <a:r>
              <a:rPr dirty="0"/>
              <a:t> </a:t>
            </a:r>
            <a:r>
              <a:rPr dirty="0" err="1"/>
              <a:t>לפי</a:t>
            </a:r>
            <a:r>
              <a:rPr dirty="0"/>
              <a:t> </a:t>
            </a:r>
            <a:r>
              <a:rPr dirty="0" err="1"/>
              <a:t>פרויקט</a:t>
            </a:r>
            <a:endParaRPr dirty="0"/>
          </a:p>
          <a:p>
            <a:pPr algn="r" rtl="1">
              <a:defRPr sz="1250">
                <a:solidFill>
                  <a:srgbClr val="475569"/>
                </a:solidFill>
                <a:latin typeface="Arial"/>
              </a:defRPr>
            </a:pPr>
            <a:r>
              <a:rPr dirty="0" err="1"/>
              <a:t>הרצת</a:t>
            </a:r>
            <a:r>
              <a:rPr dirty="0"/>
              <a:t> </a:t>
            </a:r>
            <a:r>
              <a:rPr dirty="0" err="1"/>
              <a:t>אוטומציות</a:t>
            </a:r>
            <a:r>
              <a:rPr dirty="0"/>
              <a:t> </a:t>
            </a:r>
            <a:r>
              <a:rPr dirty="0" err="1"/>
              <a:t>לפי</a:t>
            </a:r>
            <a:r>
              <a:rPr dirty="0"/>
              <a:t> </a:t>
            </a:r>
            <a:r>
              <a:rPr dirty="0" err="1"/>
              <a:t>פרויקט</a:t>
            </a:r>
            <a:r>
              <a:rPr dirty="0"/>
              <a:t> — </a:t>
            </a:r>
            <a:r>
              <a:rPr dirty="0" err="1"/>
              <a:t>מהשלב</a:t>
            </a:r>
            <a:r>
              <a:rPr dirty="0"/>
              <a:t> </a:t>
            </a:r>
            <a:r>
              <a:rPr dirty="0" err="1"/>
              <a:t>הראשון</a:t>
            </a:r>
            <a:r>
              <a:rPr dirty="0"/>
              <a:t> </a:t>
            </a:r>
            <a:r>
              <a:rPr dirty="0" err="1"/>
              <a:t>ועד</a:t>
            </a:r>
            <a:r>
              <a:rPr dirty="0"/>
              <a:t> </a:t>
            </a:r>
            <a:r>
              <a:rPr dirty="0" err="1"/>
              <a:t>הסיום</a:t>
            </a:r>
            <a:r>
              <a:rPr lang="he-IL" dirty="0"/>
              <a:t> </a:t>
            </a:r>
            <a:r>
              <a:rPr lang="he-IL" b="1" dirty="0"/>
              <a:t>בקליק אחד</a:t>
            </a:r>
            <a:r>
              <a:rPr dirty="0"/>
              <a:t>, </a:t>
            </a:r>
            <a:r>
              <a:rPr dirty="0" err="1"/>
              <a:t>בצורה</a:t>
            </a:r>
            <a:r>
              <a:rPr dirty="0"/>
              <a:t> </a:t>
            </a:r>
            <a:r>
              <a:rPr dirty="0" err="1"/>
              <a:t>אחידה</a:t>
            </a:r>
            <a:r>
              <a:rPr dirty="0"/>
              <a:t> </a:t>
            </a:r>
            <a:r>
              <a:rPr dirty="0" err="1"/>
              <a:t>ומתועדת</a:t>
            </a:r>
            <a:r>
              <a:rPr dirty="0"/>
              <a:t>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5B91A895-EA3C-46F1-9130-C408B8659CFB}"/>
              </a:ext>
            </a:extLst>
          </p:cNvPr>
          <p:cNvSpPr/>
          <p:nvPr/>
        </p:nvSpPr>
        <p:spPr>
          <a:xfrm>
            <a:off x="502920" y="3950208"/>
            <a:ext cx="1417320" cy="502920"/>
          </a:xfrm>
          <a:prstGeom prst="roundRect">
            <a:avLst/>
          </a:prstGeom>
          <a:solidFill>
            <a:srgbClr val="FEF9C3"/>
          </a:solidFill>
          <a:ln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>
              <a:defRPr sz="1400" b="1">
                <a:solidFill>
                  <a:srgbClr val="713F12"/>
                </a:solidFill>
                <a:latin typeface="Arial"/>
              </a:defRPr>
            </a:pPr>
            <a:r>
              <a:t>אנחנו פה</a:t>
            </a:r>
          </a:p>
        </p:txBody>
      </p:sp>
      <p:sp>
        <p:nvSpPr>
          <p:cNvPr id="19" name="Right Arrow 18">
            <a:extLst>
              <a:ext uri="{FF2B5EF4-FFF2-40B4-BE49-F238E27FC236}">
                <a16:creationId xmlns:a16="http://schemas.microsoft.com/office/drawing/2014/main" id="{9E32DD68-1650-410B-901C-7EF0A4268C43}"/>
              </a:ext>
            </a:extLst>
          </p:cNvPr>
          <p:cNvSpPr/>
          <p:nvPr/>
        </p:nvSpPr>
        <p:spPr>
          <a:xfrm>
            <a:off x="1828800" y="3995928"/>
            <a:ext cx="502920" cy="384048"/>
          </a:xfrm>
          <a:prstGeom prst="rightArrow">
            <a:avLst/>
          </a:prstGeom>
          <a:solidFill>
            <a:srgbClr val="CA8A04"/>
          </a:solidFill>
          <a:ln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4037327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11" grpId="0" animBg="1"/>
      <p:bldP spid="1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1494008" y="457200"/>
            <a:ext cx="146304" cy="1005840"/>
          </a:xfrm>
          <a:prstGeom prst="roundRect">
            <a:avLst/>
          </a:prstGeom>
          <a:solidFill>
            <a:srgbClr val="F27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10835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27A1D"/>
                </a:solidFill>
                <a:latin typeface="Arial"/>
              </a:rPr>
              <a:t>מצב נוכחי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835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הכול כאן — ופועל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10927080" cy="658368"/>
          </a:xfrm>
          <a:prstGeom prst="roundRect">
            <a:avLst/>
          </a:prstGeom>
          <a:solidFill>
            <a:srgbClr val="1727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18520" y="2056680"/>
            <a:ext cx="502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3FC380"/>
                </a:solidFill>
                <a:latin typeface="Arial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96680"/>
            <a:ext cx="996696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1600" b="0" dirty="0" err="1">
                <a:solidFill>
                  <a:srgbClr val="FFFFFF"/>
                </a:solidFill>
                <a:latin typeface="Arial"/>
              </a:rPr>
              <a:t>פועלות</a:t>
            </a:r>
            <a:r>
              <a:rPr sz="16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Arial"/>
              </a:rPr>
              <a:t>כיום</a:t>
            </a:r>
            <a:r>
              <a:rPr sz="1600" b="0" dirty="0">
                <a:solidFill>
                  <a:srgbClr val="FFFFFF"/>
                </a:solidFill>
                <a:latin typeface="Arial"/>
              </a:rPr>
              <a:t> </a:t>
            </a:r>
            <a:r>
              <a:rPr lang="he-IL" sz="1600" b="0" dirty="0">
                <a:solidFill>
                  <a:srgbClr val="FFFFFF"/>
                </a:solidFill>
                <a:latin typeface="Arial"/>
              </a:rPr>
              <a:t>16</a:t>
            </a:r>
            <a:r>
              <a:rPr sz="1600" b="0" dirty="0">
                <a:solidFill>
                  <a:srgbClr val="FFFFFF"/>
                </a:solidFill>
                <a:latin typeface="Arial"/>
              </a:rPr>
              <a:t> </a:t>
            </a:r>
            <a:r>
              <a:rPr lang="he-IL" sz="16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Arial"/>
              </a:rPr>
              <a:t>אוטומציות</a:t>
            </a:r>
            <a:r>
              <a:rPr sz="16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Arial"/>
              </a:rPr>
              <a:t>ללקוח</a:t>
            </a:r>
            <a:r>
              <a:rPr sz="16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Arial"/>
              </a:rPr>
              <a:t>Cognyte</a:t>
            </a:r>
            <a:r>
              <a:rPr sz="1600" b="0" dirty="0">
                <a:solidFill>
                  <a:srgbClr val="FFFFFF"/>
                </a:solidFill>
                <a:latin typeface="Arial"/>
              </a:rPr>
              <a:t>, </a:t>
            </a:r>
            <a:r>
              <a:rPr lang="he-IL" sz="16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Arial"/>
              </a:rPr>
              <a:t>בכל</a:t>
            </a:r>
            <a:r>
              <a:rPr sz="16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Arial"/>
              </a:rPr>
              <a:t>הקטגוריות</a:t>
            </a:r>
            <a:r>
              <a:rPr sz="1600" b="0" dirty="0">
                <a:solidFill>
                  <a:srgbClr val="FFFFFF"/>
                </a:solidFill>
                <a:latin typeface="Arial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34640"/>
            <a:ext cx="10927080" cy="658368"/>
          </a:xfrm>
          <a:prstGeom prst="roundRect">
            <a:avLst/>
          </a:prstGeom>
          <a:solidFill>
            <a:srgbClr val="1727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018520" y="2879640"/>
            <a:ext cx="502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3FC380"/>
                </a:solidFill>
                <a:latin typeface="Arial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19640"/>
            <a:ext cx="996696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1600" b="0" dirty="0" err="1">
                <a:solidFill>
                  <a:srgbClr val="FFFFFF"/>
                </a:solidFill>
                <a:latin typeface="Arial"/>
              </a:rPr>
              <a:t>הצפנה</a:t>
            </a:r>
            <a:r>
              <a:rPr sz="16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Arial"/>
              </a:rPr>
              <a:t>מלאה</a:t>
            </a:r>
            <a:r>
              <a:rPr sz="1600" b="0" dirty="0">
                <a:solidFill>
                  <a:srgbClr val="FFFFFF"/>
                </a:solidFill>
                <a:latin typeface="Arial"/>
              </a:rPr>
              <a:t> </a:t>
            </a:r>
            <a:r>
              <a:rPr lang="he-IL" sz="1600" b="0" dirty="0">
                <a:solidFill>
                  <a:srgbClr val="FFFFFF"/>
                </a:solidFill>
                <a:latin typeface="Arial"/>
              </a:rPr>
              <a:t>של המידע </a:t>
            </a:r>
            <a:r>
              <a:rPr sz="1600" b="0" dirty="0">
                <a:solidFill>
                  <a:srgbClr val="FFFFFF"/>
                </a:solidFill>
                <a:latin typeface="Arial"/>
              </a:rPr>
              <a:t>+ </a:t>
            </a:r>
            <a:r>
              <a:rPr lang="he-IL" sz="1600" dirty="0">
                <a:solidFill>
                  <a:srgbClr val="FFFFFF"/>
                </a:solidFill>
                <a:latin typeface="Arial"/>
              </a:rPr>
              <a:t> הגנות אבטחת מידע.</a:t>
            </a:r>
            <a:endParaRPr sz="1600" b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40080" y="3657600"/>
            <a:ext cx="10927080" cy="658368"/>
          </a:xfrm>
          <a:prstGeom prst="roundRect">
            <a:avLst/>
          </a:prstGeom>
          <a:solidFill>
            <a:srgbClr val="1727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018520" y="3702600"/>
            <a:ext cx="502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3FC380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742600"/>
            <a:ext cx="9966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הרצה מקבילה, לוגים פר-שרת, ותיעוד אוטומטי לכל הרצה.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80560"/>
            <a:ext cx="10927080" cy="658368"/>
          </a:xfrm>
          <a:prstGeom prst="roundRect">
            <a:avLst/>
          </a:prstGeom>
          <a:solidFill>
            <a:srgbClr val="1727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018520" y="4525560"/>
            <a:ext cx="502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3FC380"/>
                </a:solidFill>
                <a:latin typeface="Arial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565560"/>
            <a:ext cx="996696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1600" b="0" dirty="0" err="1">
                <a:solidFill>
                  <a:srgbClr val="FFFFFF"/>
                </a:solidFill>
                <a:latin typeface="Arial"/>
              </a:rPr>
              <a:t>מוכן</a:t>
            </a:r>
            <a:r>
              <a:rPr sz="16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Arial"/>
              </a:rPr>
              <a:t>להרחבה</a:t>
            </a:r>
            <a:r>
              <a:rPr lang="he-IL" sz="1600" dirty="0">
                <a:solidFill>
                  <a:srgbClr val="FFFFFF"/>
                </a:solidFill>
                <a:latin typeface="Arial"/>
              </a:rPr>
              <a:t> ל- </a:t>
            </a:r>
            <a:r>
              <a:rPr lang="en-US" sz="1600" dirty="0">
                <a:solidFill>
                  <a:srgbClr val="FFFFFF"/>
                </a:solidFill>
                <a:latin typeface="Arial"/>
              </a:rPr>
              <a:t>Nova</a:t>
            </a:r>
            <a:r>
              <a:rPr lang="he-IL" sz="1600" dirty="0">
                <a:solidFill>
                  <a:srgbClr val="FFFFFF"/>
                </a:solidFill>
                <a:latin typeface="Arial"/>
              </a:rPr>
              <a:t>, </a:t>
            </a:r>
            <a:r>
              <a:rPr lang="en-US" sz="1600" dirty="0">
                <a:solidFill>
                  <a:srgbClr val="FFFFFF"/>
                </a:solidFill>
                <a:latin typeface="Arial"/>
              </a:rPr>
              <a:t>Applied</a:t>
            </a:r>
            <a:r>
              <a:rPr lang="he-IL" sz="1600" dirty="0">
                <a:solidFill>
                  <a:srgbClr val="FFFFFF"/>
                </a:solidFill>
                <a:latin typeface="Arial"/>
              </a:rPr>
              <a:t> .</a:t>
            </a:r>
            <a:endParaRPr sz="1600" b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2743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ADBDD0"/>
                </a:solidFill>
                <a:latin typeface="Arial"/>
              </a:rPr>
              <a:t>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6446520"/>
            <a:ext cx="27706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ADBDD0"/>
                </a:solidFill>
                <a:latin typeface="Arial"/>
              </a:rPr>
              <a:t>PS Automation  •  HIPER Global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27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-1948927" y="2536448"/>
            <a:ext cx="10698480" cy="892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5200" b="1" dirty="0" err="1">
                <a:solidFill>
                  <a:srgbClr val="FFFFFF"/>
                </a:solidFill>
                <a:latin typeface="Arial"/>
              </a:rPr>
              <a:t>תודה</a:t>
            </a:r>
            <a:r>
              <a:rPr lang="he-IL" sz="5200" b="1" dirty="0">
                <a:solidFill>
                  <a:srgbClr val="FFFFFF"/>
                </a:solidFill>
                <a:latin typeface="Arial"/>
              </a:rPr>
              <a:t> על ההקשבה</a:t>
            </a:r>
            <a:endParaRPr sz="52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F27A1D"/>
                </a:solidFill>
                <a:latin typeface="Arial"/>
              </a:rPr>
              <a:t>זמינים להדגמה חיה של הכלי בכל שלב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ADBDD0"/>
                </a:solidFill>
                <a:latin typeface="Arial"/>
              </a:rPr>
              <a:t>PS Automation  •  HIPER Global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948</TotalTime>
  <Words>1148</Words>
  <Application>Microsoft Office PowerPoint</Application>
  <PresentationFormat>Widescreen</PresentationFormat>
  <Paragraphs>171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Elad Dafna</cp:lastModifiedBy>
  <cp:revision>26</cp:revision>
  <dcterms:created xsi:type="dcterms:W3CDTF">2013-01-27T09:14:16Z</dcterms:created>
  <dcterms:modified xsi:type="dcterms:W3CDTF">2026-07-20T07:18:34Z</dcterms:modified>
  <cp:category/>
</cp:coreProperties>
</file>